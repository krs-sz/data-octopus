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Wafermap Analysis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08080"/>
                </a:solidFill>
              </a:defRPr>
            </a:pPr>
            <a:r>
              <a:t>Generated on 2026-02-20 09:54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</a:defRPr>
            </a:pPr>
            <a:r>
              <a:t>Gage R&amp;R Report - Agenda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914400"/>
          <a:ext cx="10911535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4114800"/>
                <a:gridCol w="1828800"/>
                <a:gridCol w="2286000"/>
                <a:gridCol w="2041855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Group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Parameters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Pages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Slides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📋 Agenda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Page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📖 Calculation Parameters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Page 3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ANLG_ADC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Page 4-8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ANLG_DAC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Page 9-13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DC_SHORT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Page 14-18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📊 Bridged-Pixels - Pixel Mean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Page 19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📊 Bridged-Pixels - Pixel Median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Page 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📍 Bridged-Pixels - Pixel Position based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5 dies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Page 21-26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📊 Stitched - Pixel Mean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Page 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📊 Stitched - Pixel Median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Page 28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📍 Stitched - Pixel Position based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5 dies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Page 29-34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📊 UniformitySyn - Pixel Mean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Page 35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📊 UniformitySyn - Pixel Median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Page 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📍 UniformitySyn - Pixel Position based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5 dies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Page 37-42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5897880"/>
            <a:ext cx="10911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565C0"/>
                </a:solidFill>
              </a:defRPr>
            </a:pPr>
            <a:r>
              <a:t>Total: 14 Groups | 13 Parameters | 41 Slides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r>
              <a:t>Gage R&amp;R - Calculation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94360"/>
            <a:ext cx="566928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00000"/>
                </a:solidFill>
              </a:defRPr>
            </a:pPr>
            <a:r>
              <a:t>BASIC STATISTICAL VALUES</a:t>
            </a:r>
          </a:p>
          <a:p>
            <a:pPr>
              <a:defRPr sz="6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Mean (Mittelwert):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Average of all measurements across all files and dies.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Mean = Σ(xi) / n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Std Dev (Standardabweichung):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Measure of dispersion around the mean.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σ = √[Σ(xi - Mean)² / n]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Range (Spannweite):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Difference between maximum and minimum.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Range = Max - Min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LSL / USL (Spec Limits):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Statistical limits (k = sigma factor).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LSL = Mean - kσ  |  USL = Mean + kσ</a:t>
            </a:r>
          </a:p>
          <a:p>
            <a:pPr>
              <a:defRPr sz="800" b="0"/>
            </a:pPr>
          </a:p>
          <a:p>
            <a:pPr>
              <a:defRPr sz="1300" b="1">
                <a:solidFill>
                  <a:srgbClr val="800000"/>
                </a:solidFill>
              </a:defRPr>
            </a:pPr>
            <a:r>
              <a:t>GAGE R&amp;R COMPONENTS</a:t>
            </a:r>
          </a:p>
          <a:p>
            <a:pPr>
              <a:defRPr sz="6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Repeatability (EV):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Variation within measurements of one file (equipment).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EV = Mean(σ within each file)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Reproducibility (AV):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Variation between files/operators/trials.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AV = σ(file means)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GRR Total: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Combined measurement system variation.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GRR = R̄ / d₂  (Range Method)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594360"/>
            <a:ext cx="566928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00000"/>
                </a:solidFill>
              </a:defRPr>
            </a:pPr>
            <a:r>
              <a:t>ASSESSMENT METRICS</a:t>
            </a:r>
          </a:p>
          <a:p>
            <a:pPr>
              <a:defRPr sz="6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%GRR (Prozent GRR):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GRR as percentage of total variation or tolerance.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%GRR = (GRR / TV) × 100  or  (GRR / Tolerance) × 100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ndc (Using Total Variation):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Number of distinct categories the system can distinguish.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ndc = 1.41 × (TV / GRR)</a:t>
            </a:r>
          </a:p>
          <a:p>
            <a:pPr>
              <a:defRPr sz="800" b="0"/>
            </a:pPr>
          </a:p>
          <a:p>
            <a:pPr>
              <a:defRPr sz="1300" b="1">
                <a:solidFill>
                  <a:srgbClr val="800000"/>
                </a:solidFill>
              </a:defRPr>
            </a:pPr>
            <a:r>
              <a:t>ASSESSMENT CRITERIA (AIAG MSA)</a:t>
            </a:r>
          </a:p>
          <a:p>
            <a:pPr>
              <a:defRPr sz="600" b="0"/>
            </a:pPr>
          </a:p>
          <a:p>
            <a:pPr>
              <a:defRPr sz="1100" b="1">
                <a:solidFill>
                  <a:srgbClr val="388E3C"/>
                </a:solidFill>
              </a:defRPr>
            </a:pPr>
            <a:r>
              <a:t>🟢 EXCELLENT:  %GRR &lt; 10%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Measurement system is acceptable.</a:t>
            </a:r>
          </a:p>
          <a:p>
            <a:pPr>
              <a:defRPr sz="400" b="0"/>
            </a:pPr>
          </a:p>
          <a:p>
            <a:pPr>
              <a:defRPr sz="1100" b="1">
                <a:solidFill>
                  <a:srgbClr val="FF9800"/>
                </a:solidFill>
              </a:defRPr>
            </a:pPr>
            <a:r>
              <a:t>🟡 ACCEPTABLE:  10% ≤ %GRR &lt; 30%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May be acceptable depending on application.</a:t>
            </a:r>
          </a:p>
          <a:p>
            <a:pPr>
              <a:defRPr sz="400" b="0"/>
            </a:pPr>
          </a:p>
          <a:p>
            <a:pPr>
              <a:defRPr sz="1100" b="1">
                <a:solidFill>
                  <a:srgbClr val="F44336"/>
                </a:solidFill>
              </a:defRPr>
            </a:pPr>
            <a:r>
              <a:t>🔴 UNACCEPTABLE:  %GRR ≥ 30%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Measurement system must be improved.</a:t>
            </a:r>
          </a:p>
          <a:p>
            <a:pPr>
              <a:defRPr sz="600" b="0"/>
            </a:pP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ndc ≥ 5:  Good measurement system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Can distinguish ≥ 5 distinct categories.</a:t>
            </a:r>
          </a:p>
          <a:p>
            <a:pPr>
              <a:defRPr sz="800" b="0"/>
            </a:pPr>
          </a:p>
          <a:p>
            <a:pPr>
              <a:defRPr sz="1300" b="1">
                <a:solidFill>
                  <a:srgbClr val="800000"/>
                </a:solidFill>
              </a:defRPr>
            </a:pPr>
            <a:r>
              <a:t>INTERPRETATION</a:t>
            </a:r>
          </a:p>
          <a:p>
            <a:pPr>
              <a:defRPr sz="600" b="0"/>
            </a:pPr>
          </a:p>
          <a:p>
            <a:pPr>
              <a:defRPr sz="900" b="0">
                <a:solidFill>
                  <a:srgbClr val="323232"/>
                </a:solidFill>
              </a:defRPr>
            </a:pPr>
            <a:r>
              <a:t>• High Repeatability → Equipment/method problem</a:t>
            </a:r>
          </a:p>
          <a:p>
            <a:pPr>
              <a:defRPr sz="900" b="0">
                <a:solidFill>
                  <a:srgbClr val="323232"/>
                </a:solidFill>
              </a:defRPr>
            </a:pPr>
            <a:r>
              <a:t>• High Reproducibility → Operator/process/time problem</a:t>
            </a:r>
          </a:p>
          <a:p>
            <a:pPr>
              <a:defRPr sz="900" b="0">
                <a:solidFill>
                  <a:srgbClr val="323232"/>
                </a:solidFill>
              </a:defRPr>
            </a:pPr>
            <a:r>
              <a:t>• ndc should be ≥ 5 for a good measurement system</a:t>
            </a:r>
          </a:p>
          <a:p>
            <a:pPr>
              <a:defRPr sz="900" b="0">
                <a:solidFill>
                  <a:srgbClr val="323232"/>
                </a:solidFill>
              </a:defRPr>
            </a:pPr>
            <a:r>
              <a:t>• Values outside LSL/USL indicate outliers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430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Gage R&amp;R Study Overview - ANLG_ADC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0080"/>
            <a:ext cx="548640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0" y="64008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Study Configuration</a:t>
            </a:r>
          </a:p>
          <a:p>
            <a:pPr>
              <a:defRPr sz="1000"/>
            </a:pPr>
            <a:r>
              <a:t>• Files/Trials: 3   • Dies/Parts: 5   • Parameters: 22</a:t>
            </a:r>
          </a:p>
          <a:p>
            <a:br/>
            <a:pPr>
              <a:defRPr sz="1200" b="1"/>
            </a:pPr>
            <a:r>
              <a:t>Parameters Analyzed:</a:t>
            </a:r>
          </a:p>
          <a:p>
            <a:pPr>
              <a:defRPr sz="900">
                <a:latin typeface="Consolas"/>
              </a:defRPr>
            </a:pPr>
            <a:r>
              <a:t>  1. 11620201: STATIC_I3CSDA-AT-VBG10DIV3BY4_X I3C</a:t>
            </a:r>
          </a:p>
          <a:p>
            <a:pPr>
              <a:defRPr sz="900">
                <a:latin typeface="Consolas"/>
              </a:defRPr>
            </a:pPr>
            <a:r>
              <a:t>  2. 11620202: STATIC_GPIO90-AT-VBG10DIV3BY4_X GPI</a:t>
            </a:r>
          </a:p>
          <a:p>
            <a:pPr>
              <a:defRPr sz="900">
                <a:latin typeface="Consolas"/>
              </a:defRPr>
            </a:pPr>
            <a:r>
              <a:t>  3. 11620203: STATIC_I3CSDA-AT-VBG10DIV4_X I3C_SD</a:t>
            </a:r>
          </a:p>
          <a:p>
            <a:pPr>
              <a:defRPr sz="900">
                <a:latin typeface="Consolas"/>
              </a:defRPr>
            </a:pPr>
            <a:r>
              <a:t>  4. 11620204: STATIC_GPIO90-AT-VBG10DIV4_X GPIO_B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474720"/>
            <a:ext cx="11612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CAF50"/>
                </a:solidFill>
              </a:defRPr>
            </a:pPr>
            <a:r>
              <a:t>Overall Result: PASS</a:t>
            </a:r>
          </a:p>
          <a:p>
            <a:pPr>
              <a:defRPr sz="1100"/>
            </a:pPr>
            <a:r>
              <a:t>✓ All parameters show EXCELLENT measurement system capability. No action required.</a:t>
            </a:r>
          </a:p>
          <a:p>
            <a:br/>
            <a:pPr>
              <a:defRPr sz="1000">
                <a:solidFill>
                  <a:srgbClr val="646464"/>
                </a:solidFill>
              </a:defRPr>
            </a:pPr>
            <a:r>
              <a:t>Assessment: 4 Excellent | 0 Acceptable | 0 Unacceptable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430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Gage R&amp;R - Calculation Parameters (Formulas)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566928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8E3C"/>
                </a:solidFill>
              </a:defRPr>
            </a:pPr>
            <a:r>
              <a:t>BASIC STATISTICAL VALUES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Mean (Mittelwert):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Average of all measurements across all files and dies.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Mean = Σ(xi) / n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Std Dev (Standardabweichung):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Measure of dispersion around the mean.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σ = √[Σ(xi - Mean)² / n]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Range (Spannweite):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Difference between maximum and minimum.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Range = Max - Min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LSL / USL (Spec Limits):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Statistical limits (k = sigma factor).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LSL = Mean - kσ   |   USL = Mean + kσ</a:t>
            </a:r>
          </a:p>
          <a:p/>
          <a:p>
            <a:pPr>
              <a:defRPr sz="1300" b="1">
                <a:solidFill>
                  <a:srgbClr val="388E3C"/>
                </a:solidFill>
              </a:defRPr>
            </a:pPr>
            <a:r>
              <a:t>GAGE R&amp;R COMPONENTS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Repeatability (EV):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Variation within measurements of one file (equipment).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EV = Mean(σ within each file)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Reproducibility (AV):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Variation between files/operators/trials.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AV = σ(file means)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GRR Total: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Combined measurement system variation.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GRR = R̄ / d₂   (Range Method)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Part Variation (PV):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True variation between parts/dies.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PV = σ(part means)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Total Variation (TV):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Total observed variation.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TV = √(PV² + GRR²)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731520"/>
            <a:ext cx="566928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8E3C"/>
                </a:solidFill>
              </a:defRPr>
            </a:pPr>
            <a:r>
              <a:t>ASSESSMENT METRICS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%GRR (Prozent GRR):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GRR as percentage of total variation or tolerance.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%GRR = (GRR / TV) × 100   or   (GRR / Tolerance) × 100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ndc (Using Part Variation):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Number of distinct categories the system can distinguish.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ndc = 1.41 × (PV / GRR)</a:t>
            </a:r>
          </a:p>
          <a:p/>
          <a:p>
            <a:pPr>
              <a:defRPr sz="1300" b="1">
                <a:solidFill>
                  <a:srgbClr val="388E3C"/>
                </a:solidFill>
              </a:defRPr>
            </a:pPr>
            <a:r>
              <a:t>ASSESSMENT CRITERIA (AIAG MSA)</a:t>
            </a:r>
          </a:p>
          <a:p/>
          <a:p>
            <a:pPr>
              <a:defRPr sz="1000" b="1"/>
            </a:pPr>
            <a:r>
              <a:t>🟢 EXCELLENT:  %GRR &lt; 10%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Measurement system is acceptable.</a:t>
            </a:r>
          </a:p>
          <a:p/>
          <a:p>
            <a:pPr>
              <a:defRPr sz="1000" b="1"/>
            </a:pPr>
            <a:r>
              <a:t>🟡 ACCEPTABLE:  10% ≤ %GRR &lt; 30%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May be acceptable depending on application.</a:t>
            </a:r>
          </a:p>
          <a:p/>
          <a:p>
            <a:pPr>
              <a:defRPr sz="1000" b="1"/>
            </a:pPr>
            <a:r>
              <a:t>🔴 UNACCEPTABLE:  %GRR ≥ 30%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Measurement system must be improved.</a:t>
            </a:r>
          </a:p>
          <a:p/>
          <a:p>
            <a:pPr>
              <a:defRPr sz="1000" b="1"/>
            </a:pPr>
            <a:r>
              <a:t>ndc ≥ 5:  Good measurement system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Can distinguish ≥ 5 distinct categories.</a:t>
            </a:r>
          </a:p>
          <a:p/>
          <a:p>
            <a:pPr>
              <a:defRPr sz="1300" b="1">
                <a:solidFill>
                  <a:srgbClr val="388E3C"/>
                </a:solidFill>
              </a:defRPr>
            </a:pPr>
            <a:r>
              <a:t>INTERPRETATION</a:t>
            </a:r>
          </a:p>
          <a:p>
            <a:pPr>
              <a:defRPr sz="900"/>
            </a:pPr>
            <a:r>
              <a:t>• High Repeatability → Equipment/method problem</a:t>
            </a:r>
          </a:p>
          <a:p>
            <a:pPr>
              <a:defRPr sz="900"/>
            </a:pPr>
            <a:r>
              <a:t>• High Reproducibility → Operator/process/time problem</a:t>
            </a:r>
          </a:p>
          <a:p>
            <a:pPr>
              <a:defRPr sz="900"/>
            </a:pPr>
            <a:r>
              <a:t>• ndc should be ≥ 5 for a good measurement system</a:t>
            </a:r>
          </a:p>
          <a:p>
            <a:pPr>
              <a:defRPr sz="900"/>
            </a:pPr>
            <a:r>
              <a:t>• Values outside LSL/USL indicate outliers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430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Gage R&amp;R Analysis Summary - ANLG_ADC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8580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Consolas"/>
              </a:defRPr>
            </a:pPr>
            <a:r>
              <a:t>Study Information:</a:t>
            </a:r>
            <a:br/>
            <a:r>
              <a:t>  • Files (Operators/Trials): 3</a:t>
            </a:r>
            <a:br/>
            <a:r>
              <a:t>  • Dies (Parts): 5</a:t>
            </a:r>
            <a:br/>
            <a:r>
              <a:t>  • Parameters Analyzed: 22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0"/>
            <a:ext cx="1161288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430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Gage R&amp;R - Variance Components - ANLG_ADC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85800"/>
            <a:ext cx="1161288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4434840"/>
            <a:ext cx="116128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Interpretation:</a:t>
            </a:r>
          </a:p>
          <a:p>
            <a:pPr>
              <a:defRPr sz="1000"/>
            </a:pPr>
            <a:r>
              <a:t>• Repeatability (blue): Variation when same operator measures same part multiple times (equipment variation)</a:t>
            </a:r>
          </a:p>
          <a:p>
            <a:pPr>
              <a:defRPr sz="1000"/>
            </a:pPr>
            <a:r>
              <a:t>• Reproducibility (red): Variation between different operators/trials measuring same part (operator variation)</a:t>
            </a:r>
          </a:p>
          <a:p>
            <a:pPr>
              <a:defRPr sz="1000" i="1">
                <a:solidFill>
                  <a:srgbClr val="006496"/>
                </a:solidFill>
              </a:defRPr>
            </a:pPr>
            <a:r>
              <a:t>→ Analysis: Reproducibility (2.1%) &gt; Repeatability (2.1%). Operator/trial variation is dominant. Consider operator training or standardization.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430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Gage R&amp;R - %GRR and ndc - ANLG_ADC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85800"/>
            <a:ext cx="11612880" cy="3474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4251959"/>
            <a:ext cx="116128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Acceptance Criteria &amp; Interpretation:</a:t>
            </a:r>
          </a:p>
          <a:p>
            <a:pPr>
              <a:defRPr sz="900">
                <a:solidFill>
                  <a:srgbClr val="4CAF50"/>
                </a:solidFill>
              </a:defRPr>
            </a:pPr>
            <a:r>
              <a:t>• %GRR &lt; 10%: EXCELLENT - Measurement system is excellent for this application</a:t>
            </a:r>
          </a:p>
          <a:p>
            <a:pPr>
              <a:defRPr sz="900">
                <a:solidFill>
                  <a:srgbClr val="FF9800"/>
                </a:solidFill>
              </a:defRPr>
            </a:pPr>
            <a:r>
              <a:t>• %GRR 10-30%: ACCEPTABLE - May be acceptable depending on application criticality</a:t>
            </a:r>
          </a:p>
          <a:p>
            <a:pPr>
              <a:defRPr sz="900">
                <a:solidFill>
                  <a:srgbClr val="F44336"/>
                </a:solidFill>
              </a:defRPr>
            </a:pPr>
            <a:r>
              <a:t>• %GRR &gt; 30%: UNACCEPTABLE - Measurement system needs improvement</a:t>
            </a:r>
          </a:p>
          <a:p>
            <a:br/>
            <a:pPr>
              <a:defRPr sz="900"/>
            </a:pPr>
            <a:r>
              <a:t>• ndc (Number of Distinct Categories): Indicates how many distinct categories the measurement can reliably distinguish. ndc ≥ 5 is recommended.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430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Gage R&amp;R Study Overview - ANLG_DAC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0080"/>
            <a:ext cx="548640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0" y="64008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Study Configuration</a:t>
            </a:r>
          </a:p>
          <a:p>
            <a:pPr>
              <a:defRPr sz="1000"/>
            </a:pPr>
            <a:r>
              <a:t>• Files/Trials: 3   • Dies/Parts: 5   • Parameters: 22</a:t>
            </a:r>
          </a:p>
          <a:p>
            <a:br/>
            <a:pPr>
              <a:defRPr sz="1200" b="1"/>
            </a:pPr>
            <a:r>
              <a:t>Parameters Analyzed:</a:t>
            </a:r>
          </a:p>
          <a:p>
            <a:pPr>
              <a:defRPr sz="900">
                <a:latin typeface="Consolas"/>
              </a:defRPr>
            </a:pPr>
            <a:r>
              <a:t>  1. 11504101: CAL_CURRENT_ANODETPAD_RED ANODE_TPA</a:t>
            </a:r>
          </a:p>
          <a:p>
            <a:pPr>
              <a:defRPr sz="900">
                <a:latin typeface="Consolas"/>
              </a:defRPr>
            </a:pPr>
            <a:r>
              <a:t>  2. 11504102: CAL_CALLOOPSTEP_ANODETPAD_RED CALlo</a:t>
            </a:r>
          </a:p>
          <a:p>
            <a:pPr>
              <a:defRPr sz="900">
                <a:latin typeface="Consolas"/>
              </a:defRPr>
            </a:pPr>
            <a:r>
              <a:t>  3. 11504511: 2PTS_CURRENTAT1QFS_ANODETPAD_RED AN</a:t>
            </a:r>
          </a:p>
          <a:p>
            <a:pPr>
              <a:defRPr sz="900">
                <a:latin typeface="Consolas"/>
              </a:defRPr>
            </a:pPr>
            <a:r>
              <a:t>  4. 11504512: 2PTS_CURRENTAT3QFS_ANODETPAD_RED 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474720"/>
            <a:ext cx="11612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CAF50"/>
                </a:solidFill>
              </a:defRPr>
            </a:pPr>
            <a:r>
              <a:t>Overall Result: PASS</a:t>
            </a:r>
          </a:p>
          <a:p>
            <a:pPr>
              <a:defRPr sz="1100"/>
            </a:pPr>
            <a:r>
              <a:t>✓ All parameters show EXCELLENT measurement system capability. No action required.</a:t>
            </a:r>
          </a:p>
          <a:p>
            <a:br/>
            <a:pPr>
              <a:defRPr sz="1000">
                <a:solidFill>
                  <a:srgbClr val="646464"/>
                </a:solidFill>
              </a:defRPr>
            </a:pPr>
            <a:r>
              <a:t>Assessment: 4 Excellent | 0 Acceptable | 0 Unacceptable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430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Gage R&amp;R Analysis Summary - ANLG_DAC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8580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Consolas"/>
              </a:defRPr>
            </a:pPr>
            <a:r>
              <a:t>Study Information:</a:t>
            </a:r>
            <a:br/>
            <a:r>
              <a:t>  • Files (Operators/Trials): 3</a:t>
            </a:r>
            <a:br/>
            <a:r>
              <a:t>  • Dies (Parts): 5</a:t>
            </a:r>
            <a:br/>
            <a:r>
              <a:t>  • Parameters Analyzed: 22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0"/>
            <a:ext cx="1161288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430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Gage R&amp;R - Variance Components - ANLG_DAC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85800"/>
            <a:ext cx="1161288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4434840"/>
            <a:ext cx="116128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Interpretation:</a:t>
            </a:r>
          </a:p>
          <a:p>
            <a:pPr>
              <a:defRPr sz="1000"/>
            </a:pPr>
            <a:r>
              <a:t>• Repeatability (blue): Variation when same operator measures same part multiple times (equipment variation)</a:t>
            </a:r>
          </a:p>
          <a:p>
            <a:pPr>
              <a:defRPr sz="1000"/>
            </a:pPr>
            <a:r>
              <a:t>• Reproducibility (red): Variation between different operators/trials measuring same part (operator variation)</a:t>
            </a:r>
          </a:p>
          <a:p>
            <a:pPr>
              <a:defRPr sz="1000" i="1">
                <a:solidFill>
                  <a:srgbClr val="006496"/>
                </a:solidFill>
              </a:defRPr>
            </a:pPr>
            <a:r>
              <a:t>→ Analysis: Repeatability (3.6%) &gt; Reproducibility (1.6%). Equipment/method variation is dominant. Consider equipment calibration or method refinement.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430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Gage R&amp;R - %GRR and ndc - ANLG_DAC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85800"/>
            <a:ext cx="11612880" cy="3474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4251959"/>
            <a:ext cx="116128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Acceptance Criteria &amp; Interpretation:</a:t>
            </a:r>
          </a:p>
          <a:p>
            <a:pPr>
              <a:defRPr sz="900">
                <a:solidFill>
                  <a:srgbClr val="4CAF50"/>
                </a:solidFill>
              </a:defRPr>
            </a:pPr>
            <a:r>
              <a:t>• %GRR &lt; 10%: EXCELLENT - Measurement system is excellent for this application</a:t>
            </a:r>
          </a:p>
          <a:p>
            <a:pPr>
              <a:defRPr sz="900">
                <a:solidFill>
                  <a:srgbClr val="FF9800"/>
                </a:solidFill>
              </a:defRPr>
            </a:pPr>
            <a:r>
              <a:t>• %GRR 10-30%: ACCEPTABLE - May be acceptable depending on application criticality</a:t>
            </a:r>
          </a:p>
          <a:p>
            <a:pPr>
              <a:defRPr sz="900">
                <a:solidFill>
                  <a:srgbClr val="F44336"/>
                </a:solidFill>
              </a:defRPr>
            </a:pPr>
            <a:r>
              <a:t>• %GRR &gt; 30%: UNACCEPTABLE - Measurement system needs improvement</a:t>
            </a:r>
          </a:p>
          <a:p>
            <a:br/>
            <a:pPr>
              <a:defRPr sz="900"/>
            </a:pPr>
            <a:r>
              <a:t>• ndc (Number of Distinct Categories): Indicates how many distinct categories the measurement can reliably distinguish. ndc ≥ 5 is recommended.</a:t>
            </a:r>
          </a:p>
          <a:p>
            <a:pPr>
              <a:defRPr sz="900">
                <a:solidFill>
                  <a:srgbClr val="FF9800"/>
                </a:solidFill>
              </a:defRPr>
            </a:pPr>
            <a:r>
              <a:t>⚠ Warning: 1 parameter(s) have ndc &lt; 5: ANLG_DACCAL_CALLOOPS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430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Gage R&amp;R Study Overview - DC_SHORT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0080"/>
            <a:ext cx="548640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0" y="64008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Study Configuration</a:t>
            </a:r>
          </a:p>
          <a:p>
            <a:pPr>
              <a:defRPr sz="1000"/>
            </a:pPr>
            <a:r>
              <a:t>• Files/Trials: 3   • Dies/Parts: 5   • Parameters: 22</a:t>
            </a:r>
          </a:p>
          <a:p>
            <a:br/>
            <a:pPr>
              <a:defRPr sz="1200" b="1"/>
            </a:pPr>
            <a:r>
              <a:t>Parameters Analyzed:</a:t>
            </a:r>
          </a:p>
          <a:p>
            <a:pPr>
              <a:defRPr sz="900">
                <a:latin typeface="Consolas"/>
              </a:defRPr>
            </a:pPr>
            <a:r>
              <a:t>  1. 10020001: LOW_VDD10_FV0P1_X VDD10 22.g404hc &lt;</a:t>
            </a:r>
          </a:p>
          <a:p>
            <a:pPr>
              <a:defRPr sz="900">
                <a:latin typeface="Consolas"/>
              </a:defRPr>
            </a:pPr>
            <a:r>
              <a:t>  2. 10020002: LOW_VDD18IO_FV0P1_X VDD18IO 22.a402</a:t>
            </a:r>
          </a:p>
          <a:p>
            <a:pPr>
              <a:defRPr sz="900">
                <a:latin typeface="Consolas"/>
              </a:defRPr>
            </a:pPr>
            <a:r>
              <a:t>  3. 10020003: LOW_AVDD18_FV0P1_X AVDD18 22.c403 &lt;</a:t>
            </a:r>
          </a:p>
          <a:p>
            <a:pPr>
              <a:defRPr sz="900">
                <a:latin typeface="Consolas"/>
              </a:defRPr>
            </a:pPr>
            <a:r>
              <a:t>  4. 10020004: LOW_VQPSEFUSE_FV0P1_X VQPS_EFUSE 22</a:t>
            </a:r>
          </a:p>
          <a:p>
            <a:pPr>
              <a:defRPr sz="900">
                <a:latin typeface="Consolas"/>
              </a:defRPr>
            </a:pPr>
            <a:r>
              <a:t>  5. 10020005: LOW_AVEE_FV0P1_X AVEE 20.w402 &lt;&gt; DC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474720"/>
            <a:ext cx="11612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4336"/>
                </a:solidFill>
              </a:defRPr>
            </a:pPr>
            <a:r>
              <a:t>Overall Result: FAIL</a:t>
            </a:r>
          </a:p>
          <a:p>
            <a:pPr>
              <a:defRPr sz="1100"/>
            </a:pPr>
            <a:r>
              <a:t>✗ Gage R&amp;R FAILED for 4 parameter(s) due to excessive measurement variation (&gt;30%).</a:t>
            </a:r>
            <a:br/>
            <a:r>
              <a:t>   Failing parameters: DC_SHORT_LOW_VDD10_FV0P1_, DC_SHORT_LOW_AVDD18_FV0P1, DC_SHORT_LOW_VDD18IO_FV0P (+1 more)</a:t>
            </a:r>
            <a:br/>
            <a:r>
              <a:t>   Recommendation: Review measurement equipment, operator training, or test methodology.</a:t>
            </a:r>
          </a:p>
          <a:p>
            <a:br/>
            <a:pPr>
              <a:defRPr sz="1000">
                <a:solidFill>
                  <a:srgbClr val="646464"/>
                </a:solidFill>
              </a:defRPr>
            </a:pPr>
            <a:r>
              <a:t>Assessment: 0 Excellent | 1 Acceptable | 4 Unacceptable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430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Gage R&amp;R Analysis Summary - DC_SHORT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8580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Consolas"/>
              </a:defRPr>
            </a:pPr>
            <a:r>
              <a:t>Study Information:</a:t>
            </a:r>
            <a:br/>
            <a:r>
              <a:t>  • Files (Operators/Trials): 3</a:t>
            </a:r>
            <a:br/>
            <a:r>
              <a:t>  • Dies (Parts): 5</a:t>
            </a:r>
            <a:br/>
            <a:r>
              <a:t>  • Parameters Analyzed: 22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0"/>
            <a:ext cx="1161288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430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Gage R&amp;R - Variance Components - DC_SHORT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85800"/>
            <a:ext cx="1161288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4434840"/>
            <a:ext cx="116128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Interpretation:</a:t>
            </a:r>
          </a:p>
          <a:p>
            <a:pPr>
              <a:defRPr sz="1000"/>
            </a:pPr>
            <a:r>
              <a:t>• Repeatability (blue): Variation when same operator measures same part multiple times (equipment variation)</a:t>
            </a:r>
          </a:p>
          <a:p>
            <a:pPr>
              <a:defRPr sz="1000"/>
            </a:pPr>
            <a:r>
              <a:t>• Reproducibility (red): Variation between different operators/trials measuring same part (operator variation)</a:t>
            </a:r>
          </a:p>
          <a:p>
            <a:pPr>
              <a:defRPr sz="1000" i="1">
                <a:solidFill>
                  <a:srgbClr val="006496"/>
                </a:solidFill>
              </a:defRPr>
            </a:pPr>
            <a:r>
              <a:t>→ Analysis: Repeatability (65.8%) &gt; Reproducibility (30.0%). Equipment/method variation is dominant. Consider equipment calibration or method refinement.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430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Gage R&amp;R - %GRR and ndc - DC_SHORT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85800"/>
            <a:ext cx="11612880" cy="3474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4251959"/>
            <a:ext cx="116128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Acceptance Criteria &amp; Interpretation:</a:t>
            </a:r>
          </a:p>
          <a:p>
            <a:pPr>
              <a:defRPr sz="900">
                <a:solidFill>
                  <a:srgbClr val="4CAF50"/>
                </a:solidFill>
              </a:defRPr>
            </a:pPr>
            <a:r>
              <a:t>• %GRR &lt; 10%: EXCELLENT - Measurement system is excellent for this application</a:t>
            </a:r>
          </a:p>
          <a:p>
            <a:pPr>
              <a:defRPr sz="900">
                <a:solidFill>
                  <a:srgbClr val="FF9800"/>
                </a:solidFill>
              </a:defRPr>
            </a:pPr>
            <a:r>
              <a:t>• %GRR 10-30%: ACCEPTABLE - May be acceptable depending on application criticality</a:t>
            </a:r>
          </a:p>
          <a:p>
            <a:pPr>
              <a:defRPr sz="900">
                <a:solidFill>
                  <a:srgbClr val="F44336"/>
                </a:solidFill>
              </a:defRPr>
            </a:pPr>
            <a:r>
              <a:t>• %GRR &gt; 30%: UNACCEPTABLE - Measurement system needs improvement</a:t>
            </a:r>
          </a:p>
          <a:p>
            <a:br/>
            <a:pPr>
              <a:defRPr sz="900"/>
            </a:pPr>
            <a:r>
              <a:t>• ndc (Number of Distinct Categories): Indicates how many distinct categories the measurement can reliably distinguish. ndc ≥ 5 is recommended.</a:t>
            </a:r>
          </a:p>
          <a:p>
            <a:pPr>
              <a:defRPr sz="900">
                <a:solidFill>
                  <a:srgbClr val="FF9800"/>
                </a:solidFill>
              </a:defRPr>
            </a:pPr>
            <a:r>
              <a:t>⚠ Warning: 4 parameter(s) have ndc &lt; 5: DC_SHORT_LOW_VDD10_F, DC_SHORT_LOW_VDD18IO, DC_SHORT_LOW_AVDD18_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PLM-GAGE Summary (Mean): Bridged-Pixels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8000"/>
                </a:solidFill>
              </a:defRPr>
            </a:pPr>
            <a:r>
              <a:t>Assessment: EXCELLENT</a:t>
            </a:r>
          </a:p>
          <a:p>
            <a:pPr>
              <a:defRPr sz="1200" b="0"/>
            </a:pPr>
            <a:r>
              <a:t>Mean %GRR: 0.00%</a:t>
            </a:r>
          </a:p>
          <a:p>
            <a:pPr>
              <a:defRPr sz="1200" b="0"/>
            </a:pPr>
            <a:r>
              <a:t>Mean ndc: 0.0</a:t>
            </a:r>
          </a:p>
          <a:p>
            <a:pPr>
              <a:defRPr sz="1200" b="0"/>
            </a:pPr>
            <a:r>
              <a:t>Mean Repeatability: 0.00%</a:t>
            </a:r>
          </a:p>
          <a:p>
            <a:pPr>
              <a:defRPr sz="1200" b="0"/>
            </a:pPr>
            <a:r>
              <a:t>Mean Reproducibility: 0.00%</a:t>
            </a:r>
          </a:p>
          <a:p>
            <a:pPr>
              <a:defRPr sz="1200" b="0"/>
            </a:pPr>
            <a:r>
              <a:t>Positions analyzed: 5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200400"/>
            <a:ext cx="1161288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PLM-GAGE Summary (Median): Bridged-Pixels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8000"/>
                </a:solidFill>
              </a:defRPr>
            </a:pPr>
            <a:r>
              <a:t>Assessment: EXCELLENT</a:t>
            </a:r>
          </a:p>
          <a:p>
            <a:pPr>
              <a:defRPr sz="1200" b="0"/>
            </a:pPr>
            <a:r>
              <a:t>Median %GRR: 0.00%</a:t>
            </a:r>
          </a:p>
          <a:p>
            <a:pPr>
              <a:defRPr sz="1200" b="0"/>
            </a:pPr>
            <a:r>
              <a:t>Median ndc: 0.0</a:t>
            </a:r>
          </a:p>
          <a:p>
            <a:pPr>
              <a:defRPr sz="1200" b="0"/>
            </a:pPr>
            <a:r>
              <a:t>Median Repeatability: 0.00%</a:t>
            </a:r>
          </a:p>
          <a:p>
            <a:pPr>
              <a:defRPr sz="1200" b="0"/>
            </a:pPr>
            <a:r>
              <a:t>Median Reproducibility: 0.00%</a:t>
            </a:r>
          </a:p>
          <a:p>
            <a:pPr>
              <a:defRPr sz="1200" b="0"/>
            </a:pPr>
            <a:r>
              <a:t>Positions analyzed: 5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200400"/>
            <a:ext cx="1161288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PLM Pixel Analysis - Bridged-Pixels - Die (31,24)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02920"/>
          <a:ext cx="71323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645920"/>
                <a:gridCol w="640080"/>
                <a:gridCol w="777240"/>
                <a:gridCol w="640080"/>
                <a:gridCol w="868680"/>
                <a:gridCol w="868680"/>
                <a:gridCol w="109728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Position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ndc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Repeat.%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Reprod.%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R1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(10,8)-&gt;(20,19)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10x11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88E3C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4CAF50"/>
                          </a:solidFill>
                        </a:defRPr>
                      </a:pPr>
                      <a:r>
                        <a:t>R2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(30,29)-&gt;(39,49)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9x20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88E3C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196F3"/>
                          </a:solidFill>
                        </a:defRPr>
                      </a:pPr>
                      <a:r>
                        <a:t>R3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(8,46)-&gt;(17,58)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9x12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88E3C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EB3B"/>
                          </a:solidFill>
                        </a:defRPr>
                      </a:pPr>
                      <a:r>
                        <a:t>R4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(18,33)-&gt;(26,45)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8x12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88E3C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0" y="50292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Die (31, 24)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PLM Type: Bridged-Pixels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Regions: 4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Files/Trials: 3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Pixels/Region: 110</a:t>
            </a:r>
          </a:p>
          <a:p>
            <a:pPr>
              <a:defRPr sz="800" b="0"/>
            </a:pPr>
          </a:p>
          <a:p>
            <a:pPr>
              <a:defRPr sz="1000" b="1">
                <a:solidFill>
                  <a:srgbClr val="388E3C"/>
                </a:solidFill>
              </a:defRPr>
            </a:pPr>
            <a:r>
              <a:t>Best:  R1 - %GRR=0.0%</a:t>
            </a:r>
          </a:p>
          <a:p>
            <a:pPr>
              <a:defRPr sz="1000" b="1">
                <a:solidFill>
                  <a:srgbClr val="F44336"/>
                </a:solidFill>
              </a:defRPr>
            </a:pPr>
            <a:r>
              <a:t>Worst: R1 - %GRR=0.0%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920240"/>
            <a:ext cx="1179576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PLM Pixel Analysis - Bridged-Pixels - Die (33,33)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02920"/>
          <a:ext cx="71323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645920"/>
                <a:gridCol w="640080"/>
                <a:gridCol w="777240"/>
                <a:gridCol w="640080"/>
                <a:gridCol w="868680"/>
                <a:gridCol w="868680"/>
                <a:gridCol w="109728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Position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ndc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Repeat.%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Reprod.%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R1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(10,8)-&gt;(20,19)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10x11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88E3C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4CAF50"/>
                          </a:solidFill>
                        </a:defRPr>
                      </a:pPr>
                      <a:r>
                        <a:t>R2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(30,29)-&gt;(39,49)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9x20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88E3C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196F3"/>
                          </a:solidFill>
                        </a:defRPr>
                      </a:pPr>
                      <a:r>
                        <a:t>R3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(8,46)-&gt;(17,58)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9x12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88E3C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EB3B"/>
                          </a:solidFill>
                        </a:defRPr>
                      </a:pPr>
                      <a:r>
                        <a:t>R4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(18,33)-&gt;(26,45)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8x12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88E3C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0" y="50292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Die (33, 33)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PLM Type: Bridged-Pixels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Regions: 4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Files/Trials: 3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Pixels/Region: 110</a:t>
            </a:r>
          </a:p>
          <a:p>
            <a:pPr>
              <a:defRPr sz="800" b="0"/>
            </a:pPr>
          </a:p>
          <a:p>
            <a:pPr>
              <a:defRPr sz="1000" b="1">
                <a:solidFill>
                  <a:srgbClr val="388E3C"/>
                </a:solidFill>
              </a:defRPr>
            </a:pPr>
            <a:r>
              <a:t>Best:  R1 - %GRR=0.0%</a:t>
            </a:r>
          </a:p>
          <a:p>
            <a:pPr>
              <a:defRPr sz="1000" b="1">
                <a:solidFill>
                  <a:srgbClr val="F44336"/>
                </a:solidFill>
              </a:defRPr>
            </a:pPr>
            <a:r>
              <a:t>Worst: R1 - %GRR=0.0%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920240"/>
            <a:ext cx="1179576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PLM Pixel Analysis - Bridged-Pixels - Die (35,44)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02920"/>
          <a:ext cx="71323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645920"/>
                <a:gridCol w="640080"/>
                <a:gridCol w="777240"/>
                <a:gridCol w="640080"/>
                <a:gridCol w="868680"/>
                <a:gridCol w="868680"/>
                <a:gridCol w="109728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Position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ndc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Repeat.%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Reprod.%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R1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(10,8)-&gt;(20,19)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10x11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88E3C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4CAF50"/>
                          </a:solidFill>
                        </a:defRPr>
                      </a:pPr>
                      <a:r>
                        <a:t>R2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(30,29)-&gt;(39,49)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9x20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88E3C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196F3"/>
                          </a:solidFill>
                        </a:defRPr>
                      </a:pPr>
                      <a:r>
                        <a:t>R3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(8,46)-&gt;(17,58)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9x12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88E3C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EB3B"/>
                          </a:solidFill>
                        </a:defRPr>
                      </a:pPr>
                      <a:r>
                        <a:t>R4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(18,33)-&gt;(26,45)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8x12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88E3C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0" y="50292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Die (35, 44)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PLM Type: Bridged-Pixels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Regions: 4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Files/Trials: 3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Pixels/Region: 110</a:t>
            </a:r>
          </a:p>
          <a:p>
            <a:pPr>
              <a:defRPr sz="800" b="0"/>
            </a:pPr>
          </a:p>
          <a:p>
            <a:pPr>
              <a:defRPr sz="1000" b="1">
                <a:solidFill>
                  <a:srgbClr val="388E3C"/>
                </a:solidFill>
              </a:defRPr>
            </a:pPr>
            <a:r>
              <a:t>Best:  R1 - %GRR=0.0%</a:t>
            </a:r>
          </a:p>
          <a:p>
            <a:pPr>
              <a:defRPr sz="1000" b="1">
                <a:solidFill>
                  <a:srgbClr val="F44336"/>
                </a:solidFill>
              </a:defRPr>
            </a:pPr>
            <a:r>
              <a:t>Worst: R1 - %GRR=0.0%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920240"/>
            <a:ext cx="1179576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PLM Pixel Analysis - Bridged-Pixels - Die (36,54)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02920"/>
          <a:ext cx="71323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645920"/>
                <a:gridCol w="640080"/>
                <a:gridCol w="777240"/>
                <a:gridCol w="640080"/>
                <a:gridCol w="868680"/>
                <a:gridCol w="868680"/>
                <a:gridCol w="109728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Position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ndc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Repeat.%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Reprod.%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R1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(10,8)-&gt;(20,19)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10x11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88E3C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4CAF50"/>
                          </a:solidFill>
                        </a:defRPr>
                      </a:pPr>
                      <a:r>
                        <a:t>R2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(30,29)-&gt;(39,49)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9x20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88E3C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196F3"/>
                          </a:solidFill>
                        </a:defRPr>
                      </a:pPr>
                      <a:r>
                        <a:t>R3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(8,46)-&gt;(17,58)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9x12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88E3C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EB3B"/>
                          </a:solidFill>
                        </a:defRPr>
                      </a:pPr>
                      <a:r>
                        <a:t>R4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(18,33)-&gt;(26,45)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8x12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88E3C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0" y="50292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Die (36, 54)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PLM Type: Bridged-Pixels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Regions: 4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Files/Trials: 3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Pixels/Region: 110</a:t>
            </a:r>
          </a:p>
          <a:p>
            <a:pPr>
              <a:defRPr sz="800" b="0"/>
            </a:pPr>
          </a:p>
          <a:p>
            <a:pPr>
              <a:defRPr sz="1000" b="1">
                <a:solidFill>
                  <a:srgbClr val="388E3C"/>
                </a:solidFill>
              </a:defRPr>
            </a:pPr>
            <a:r>
              <a:t>Best:  R1 - %GRR=0.0%</a:t>
            </a:r>
          </a:p>
          <a:p>
            <a:pPr>
              <a:defRPr sz="1000" b="1">
                <a:solidFill>
                  <a:srgbClr val="F44336"/>
                </a:solidFill>
              </a:defRPr>
            </a:pPr>
            <a:r>
              <a:t>Worst: R1 - %GRR=0.0%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920240"/>
            <a:ext cx="1179576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PLM Pixel Analysis - Bridged-Pixels - Die (39,49)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02920"/>
          <a:ext cx="71323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645920"/>
                <a:gridCol w="640080"/>
                <a:gridCol w="777240"/>
                <a:gridCol w="640080"/>
                <a:gridCol w="868680"/>
                <a:gridCol w="868680"/>
                <a:gridCol w="109728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Position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ndc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Repeat.%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Reprod.%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R1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(10,8)-&gt;(20,19)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10x11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88E3C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4CAF50"/>
                          </a:solidFill>
                        </a:defRPr>
                      </a:pPr>
                      <a:r>
                        <a:t>R2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(30,29)-&gt;(39,49)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9x20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88E3C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196F3"/>
                          </a:solidFill>
                        </a:defRPr>
                      </a:pPr>
                      <a:r>
                        <a:t>R3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(8,46)-&gt;(17,58)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9x12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88E3C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EB3B"/>
                          </a:solidFill>
                        </a:defRPr>
                      </a:pPr>
                      <a:r>
                        <a:t>R4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(18,33)-&gt;(26,45)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8x12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88E3C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0" y="50292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Die (39, 49)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PLM Type: Bridged-Pixels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Regions: 4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Files/Trials: 3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Pixels/Region: 110</a:t>
            </a:r>
          </a:p>
          <a:p>
            <a:pPr>
              <a:defRPr sz="800" b="0"/>
            </a:pPr>
          </a:p>
          <a:p>
            <a:pPr>
              <a:defRPr sz="1000" b="1">
                <a:solidFill>
                  <a:srgbClr val="388E3C"/>
                </a:solidFill>
              </a:defRPr>
            </a:pPr>
            <a:r>
              <a:t>Best:  R1 - %GRR=0.0%</a:t>
            </a:r>
          </a:p>
          <a:p>
            <a:pPr>
              <a:defRPr sz="1000" b="1">
                <a:solidFill>
                  <a:srgbClr val="F44336"/>
                </a:solidFill>
              </a:defRPr>
            </a:pPr>
            <a:r>
              <a:t>Worst: R1 - %GRR=0.0%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920240"/>
            <a:ext cx="1179576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45720"/>
            <a:ext cx="1179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PLM Pixel Analysis - Bridged-Pixels Overview - Bridged-Pixels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02920"/>
          <a:ext cx="804672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120"/>
                <a:gridCol w="1341120"/>
                <a:gridCol w="1341120"/>
                <a:gridCol w="1341120"/>
                <a:gridCol w="1341120"/>
                <a:gridCol w="1341120"/>
              </a:tblGrid>
              <a:tr h="219456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Die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R1 %GRR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R2 %GRR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R3 %GRR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R4 %GRR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Avg 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(31,24)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88E3C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88E3C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88E3C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88E3C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/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(33,33)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88E3C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88E3C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88E3C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88E3C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/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(35,44)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88E3C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88E3C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88E3C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88E3C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/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(36,54)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88E3C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88E3C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88E3C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88E3C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/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(39,49)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88E3C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88E3C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88E3C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88E3C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/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0" y="50292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Bridged-Pixels Die Comparison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PLM Type: Bridged-Pixels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Total Dies: 5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Regions per Die: 4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Files/Trials: 3</a:t>
            </a:r>
          </a:p>
          <a:p>
            <a:pPr>
              <a:defRPr sz="600" b="0"/>
            </a:pPr>
          </a:p>
          <a:p>
            <a:pPr>
              <a:defRPr sz="1000" b="1">
                <a:solidFill>
                  <a:srgbClr val="388E3C"/>
                </a:solidFill>
              </a:defRPr>
            </a:pPr>
            <a:r>
              <a:t>Best:  Die(31,24) R1 - 0.0%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956816"/>
            <a:ext cx="1179576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PLM-GAGE Summary (Mean): Stitched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0000"/>
                </a:solidFill>
              </a:defRPr>
            </a:pPr>
            <a:r>
              <a:t>Assessment: UNACCEPTABLE</a:t>
            </a:r>
          </a:p>
          <a:p>
            <a:pPr>
              <a:defRPr sz="1200" b="0"/>
            </a:pPr>
            <a:r>
              <a:t>Mean %GRR: 36.25%</a:t>
            </a:r>
          </a:p>
          <a:p>
            <a:pPr>
              <a:defRPr sz="1200" b="0"/>
            </a:pPr>
            <a:r>
              <a:t>Mean ndc: 3.8</a:t>
            </a:r>
          </a:p>
          <a:p>
            <a:pPr>
              <a:defRPr sz="1200" b="0"/>
            </a:pPr>
            <a:r>
              <a:t>Mean Repeatability: 21.96%</a:t>
            </a:r>
          </a:p>
          <a:p>
            <a:pPr>
              <a:defRPr sz="1200" b="0"/>
            </a:pPr>
            <a:r>
              <a:t>Mean Reproducibility: 28.64%</a:t>
            </a:r>
          </a:p>
          <a:p>
            <a:pPr>
              <a:defRPr sz="1200" b="0"/>
            </a:pPr>
            <a:r>
              <a:t>Positions analyzed: 5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200400"/>
            <a:ext cx="1161288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PLM-GAGE Summary (Median): Stitched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0000"/>
                </a:solidFill>
              </a:defRPr>
            </a:pPr>
            <a:r>
              <a:t>Assessment: UNACCEPTABLE</a:t>
            </a:r>
          </a:p>
          <a:p>
            <a:pPr>
              <a:defRPr sz="1200" b="0"/>
            </a:pPr>
            <a:r>
              <a:t>Median %GRR: 36.14%</a:t>
            </a:r>
          </a:p>
          <a:p>
            <a:pPr>
              <a:defRPr sz="1200" b="0"/>
            </a:pPr>
            <a:r>
              <a:t>Median ndc: 3.6</a:t>
            </a:r>
          </a:p>
          <a:p>
            <a:pPr>
              <a:defRPr sz="1200" b="0"/>
            </a:pPr>
            <a:r>
              <a:t>Median Repeatability: 22.21%</a:t>
            </a:r>
          </a:p>
          <a:p>
            <a:pPr>
              <a:defRPr sz="1200" b="0"/>
            </a:pPr>
            <a:r>
              <a:t>Median Reproducibility: 27.70%</a:t>
            </a:r>
          </a:p>
          <a:p>
            <a:pPr>
              <a:defRPr sz="1200" b="0"/>
            </a:pPr>
            <a:r>
              <a:t>Positions analyzed: 5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200400"/>
            <a:ext cx="1161288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PLM Pixel Analysis - Stitched - Die (31,24)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02920"/>
          <a:ext cx="71323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645920"/>
                <a:gridCol w="640080"/>
                <a:gridCol w="777240"/>
                <a:gridCol w="640080"/>
                <a:gridCol w="868680"/>
                <a:gridCol w="868680"/>
                <a:gridCol w="109728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Position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ndc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Repeat.%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Reprod.%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R1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(10,8)-&gt;(20,19)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10x11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30.1%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4.5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19.6%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22.9%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UNACCEPTABLE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4CAF50"/>
                          </a:solidFill>
                        </a:defRPr>
                      </a:pPr>
                      <a:r>
                        <a:t>R2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(30,29)-&gt;(39,49)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9x20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28.9%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4.7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18.3%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22.3%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196F3"/>
                          </a:solidFill>
                        </a:defRPr>
                      </a:pPr>
                      <a:r>
                        <a:t>R3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(8,46)-&gt;(17,58)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9x12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33.8%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3.9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22.7%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UNACCEPTABLE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EB3B"/>
                          </a:solidFill>
                        </a:defRPr>
                      </a:pPr>
                      <a:r>
                        <a:t>R4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(18,33)-&gt;(26,45)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8x12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26.7%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5.1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17.4%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20.2%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0" y="50292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Die (31, 24)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PLM Type: Stitched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Regions: 4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Files/Trials: 3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Pixels/Region: 110</a:t>
            </a:r>
          </a:p>
          <a:p>
            <a:pPr>
              <a:defRPr sz="800" b="0"/>
            </a:pPr>
          </a:p>
          <a:p>
            <a:pPr>
              <a:defRPr sz="1000" b="1">
                <a:solidFill>
                  <a:srgbClr val="388E3C"/>
                </a:solidFill>
              </a:defRPr>
            </a:pPr>
            <a:r>
              <a:t>Best:  R4 - %GRR=26.7%</a:t>
            </a:r>
          </a:p>
          <a:p>
            <a:pPr>
              <a:defRPr sz="1000" b="1">
                <a:solidFill>
                  <a:srgbClr val="F44336"/>
                </a:solidFill>
              </a:defRPr>
            </a:pPr>
            <a:r>
              <a:t>Worst: R3 - %GRR=33.8%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920240"/>
            <a:ext cx="1179576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PLM Pixel Analysis - Stitched - Die (33,33)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02920"/>
          <a:ext cx="71323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645920"/>
                <a:gridCol w="640080"/>
                <a:gridCol w="777240"/>
                <a:gridCol w="640080"/>
                <a:gridCol w="868680"/>
                <a:gridCol w="868680"/>
                <a:gridCol w="109728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Position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ndc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Repeat.%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Reprod.%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R1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(10,8)-&gt;(20,19)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10x11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5.3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18.1%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18.0%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4CAF50"/>
                          </a:solidFill>
                        </a:defRPr>
                      </a:pPr>
                      <a:r>
                        <a:t>R2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(30,29)-&gt;(39,49)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9x20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27.3%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5.0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21.5%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16.9%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196F3"/>
                          </a:solidFill>
                        </a:defRPr>
                      </a:pPr>
                      <a:r>
                        <a:t>R3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(8,46)-&gt;(17,58)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9x12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5.4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17.3%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18.1%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EB3B"/>
                          </a:solidFill>
                        </a:defRPr>
                      </a:pPr>
                      <a:r>
                        <a:t>R4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(18,33)-&gt;(26,45)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8x12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25.9%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5.3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18.4%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18.2%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0" y="50292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Die (33, 33)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PLM Type: Stitched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Regions: 4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Files/Trials: 3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Pixels/Region: 110</a:t>
            </a:r>
          </a:p>
          <a:p>
            <a:pPr>
              <a:defRPr sz="800" b="0"/>
            </a:pPr>
          </a:p>
          <a:p>
            <a:pPr>
              <a:defRPr sz="1000" b="1">
                <a:solidFill>
                  <a:srgbClr val="388E3C"/>
                </a:solidFill>
              </a:defRPr>
            </a:pPr>
            <a:r>
              <a:t>Best:  R3 - %GRR=25.1%</a:t>
            </a:r>
          </a:p>
          <a:p>
            <a:pPr>
              <a:defRPr sz="1000" b="1">
                <a:solidFill>
                  <a:srgbClr val="F44336"/>
                </a:solidFill>
              </a:defRPr>
            </a:pPr>
            <a:r>
              <a:t>Worst: R2 - %GRR=27.3%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920240"/>
            <a:ext cx="1179576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PLM Pixel Analysis - Stitched - Die (35,44)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02920"/>
          <a:ext cx="71323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645920"/>
                <a:gridCol w="640080"/>
                <a:gridCol w="777240"/>
                <a:gridCol w="640080"/>
                <a:gridCol w="868680"/>
                <a:gridCol w="868680"/>
                <a:gridCol w="109728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Position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ndc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Repeat.%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Reprod.%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R1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(10,8)-&gt;(20,19)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10x11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34.7%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3.8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21.9%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26.9%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UNACCEPTABLE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4CAF50"/>
                          </a:solidFill>
                        </a:defRPr>
                      </a:pPr>
                      <a:r>
                        <a:t>R2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(30,29)-&gt;(39,49)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9x20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38.7%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3.4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24.8%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29.7%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UNACCEPTABLE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196F3"/>
                          </a:solidFill>
                        </a:defRPr>
                      </a:pPr>
                      <a:r>
                        <a:t>R3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(8,46)-&gt;(17,58)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9x12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36.1%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3.6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23.9%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27.1%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UNACCEPTABLE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EB3B"/>
                          </a:solidFill>
                        </a:defRPr>
                      </a:pPr>
                      <a:r>
                        <a:t>R4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(18,33)-&gt;(26,45)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8x12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35.1%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3.8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22.3%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27.1%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UNACCEPTABLE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0" y="50292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Die (35, 44)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PLM Type: Stitched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Regions: 4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Files/Trials: 3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Pixels/Region: 110</a:t>
            </a:r>
          </a:p>
          <a:p>
            <a:pPr>
              <a:defRPr sz="800" b="0"/>
            </a:pPr>
          </a:p>
          <a:p>
            <a:pPr>
              <a:defRPr sz="1000" b="1">
                <a:solidFill>
                  <a:srgbClr val="388E3C"/>
                </a:solidFill>
              </a:defRPr>
            </a:pPr>
            <a:r>
              <a:t>Best:  R1 - %GRR=34.7%</a:t>
            </a:r>
          </a:p>
          <a:p>
            <a:pPr>
              <a:defRPr sz="1000" b="1">
                <a:solidFill>
                  <a:srgbClr val="F44336"/>
                </a:solidFill>
              </a:defRPr>
            </a:pPr>
            <a:r>
              <a:t>Worst: R2 - %GRR=38.7%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920240"/>
            <a:ext cx="1179576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PLM Pixel Analysis - Stitched - Die (36,54)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02920"/>
          <a:ext cx="71323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645920"/>
                <a:gridCol w="640080"/>
                <a:gridCol w="777240"/>
                <a:gridCol w="640080"/>
                <a:gridCol w="868680"/>
                <a:gridCol w="868680"/>
                <a:gridCol w="109728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Position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ndc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Repeat.%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Reprod.%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R1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(10,8)-&gt;(20,19)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10x11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47.9%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40.4%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UNACCEPTABLE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4CAF50"/>
                          </a:solidFill>
                        </a:defRPr>
                      </a:pPr>
                      <a:r>
                        <a:t>R2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(30,29)-&gt;(39,49)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9x20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51.9%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2.3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27.7%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43.9%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UNACCEPTABLE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196F3"/>
                          </a:solidFill>
                        </a:defRPr>
                      </a:pPr>
                      <a:r>
                        <a:t>R3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(8,46)-&gt;(17,58)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9x12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49.2%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42.3%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UNACCEPTABLE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EB3B"/>
                          </a:solidFill>
                        </a:defRPr>
                      </a:pPr>
                      <a:r>
                        <a:t>R4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(18,33)-&gt;(26,45)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8x12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48.5%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2.5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25.6%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41.3%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UNACCEPTABLE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0" y="50292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Die (36, 54)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PLM Type: Stitched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Regions: 4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Files/Trials: 3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Pixels/Region: 110</a:t>
            </a:r>
          </a:p>
          <a:p>
            <a:pPr>
              <a:defRPr sz="800" b="0"/>
            </a:pPr>
          </a:p>
          <a:p>
            <a:pPr>
              <a:defRPr sz="1000" b="1">
                <a:solidFill>
                  <a:srgbClr val="388E3C"/>
                </a:solidFill>
              </a:defRPr>
            </a:pPr>
            <a:r>
              <a:t>Best:  R1 - %GRR=47.9%</a:t>
            </a:r>
          </a:p>
          <a:p>
            <a:pPr>
              <a:defRPr sz="1000" b="1">
                <a:solidFill>
                  <a:srgbClr val="F44336"/>
                </a:solidFill>
              </a:defRPr>
            </a:pPr>
            <a:r>
              <a:t>Worst: R2 - %GRR=51.9%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920240"/>
            <a:ext cx="1179576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PLM Pixel Analysis - Stitched - Die (39,49)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02920"/>
          <a:ext cx="71323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645920"/>
                <a:gridCol w="640080"/>
                <a:gridCol w="777240"/>
                <a:gridCol w="640080"/>
                <a:gridCol w="868680"/>
                <a:gridCol w="868680"/>
                <a:gridCol w="109728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Position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ndc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Repeat.%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Reprod.%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R1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(10,8)-&gt;(20,19)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10x11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38.7%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3.4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21.3%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32.3%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UNACCEPTABLE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4CAF50"/>
                          </a:solidFill>
                        </a:defRPr>
                      </a:pPr>
                      <a:r>
                        <a:t>R2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(30,29)-&gt;(39,49)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9x20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40.6%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3.2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21.8%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34.3%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UNACCEPTABLE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196F3"/>
                          </a:solidFill>
                        </a:defRPr>
                      </a:pPr>
                      <a:r>
                        <a:t>R3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(8,46)-&gt;(17,58)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9x12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39.1%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3.3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22.5%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32.0%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UNACCEPTABLE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EB3B"/>
                          </a:solidFill>
                        </a:defRPr>
                      </a:pPr>
                      <a:r>
                        <a:t>R4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(18,33)-&gt;(26,45)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8x12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41.1%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3.1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23.3%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33.9%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UNACCEPTABLE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0" y="50292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Die (39, 49)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PLM Type: Stitched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Regions: 4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Files/Trials: 3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Pixels/Region: 110</a:t>
            </a:r>
          </a:p>
          <a:p>
            <a:pPr>
              <a:defRPr sz="800" b="0"/>
            </a:pPr>
          </a:p>
          <a:p>
            <a:pPr>
              <a:defRPr sz="1000" b="1">
                <a:solidFill>
                  <a:srgbClr val="388E3C"/>
                </a:solidFill>
              </a:defRPr>
            </a:pPr>
            <a:r>
              <a:t>Best:  R1 - %GRR=38.7%</a:t>
            </a:r>
          </a:p>
          <a:p>
            <a:pPr>
              <a:defRPr sz="1000" b="1">
                <a:solidFill>
                  <a:srgbClr val="F44336"/>
                </a:solidFill>
              </a:defRPr>
            </a:pPr>
            <a:r>
              <a:t>Worst: R4 - %GRR=41.1%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920240"/>
            <a:ext cx="1179576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45720"/>
            <a:ext cx="1179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PLM Pixel Analysis - Stitched Overview - Stitched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02920"/>
          <a:ext cx="804672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120"/>
                <a:gridCol w="1341120"/>
                <a:gridCol w="1341120"/>
                <a:gridCol w="1341120"/>
                <a:gridCol w="1341120"/>
                <a:gridCol w="1341120"/>
              </a:tblGrid>
              <a:tr h="219456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Die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R1 %GRR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R2 %GRR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R3 %GRR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R4 %GRR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Avg 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(31,24)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44336"/>
                          </a:solidFill>
                        </a:defRPr>
                      </a:pPr>
                      <a:r>
                        <a:t>30.1%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28.9%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44336"/>
                          </a:solidFill>
                        </a:defRPr>
                      </a:pPr>
                      <a:r>
                        <a:t>33.8%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26.7%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/>
                      </a:pPr>
                      <a:r>
                        <a:t>29.9%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(33,33)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25.5%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27.3%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25.1%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25.9%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/>
                      </a:pPr>
                      <a:r>
                        <a:t>26.0%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(35,44)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44336"/>
                          </a:solidFill>
                        </a:defRPr>
                      </a:pPr>
                      <a:r>
                        <a:t>34.7%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44336"/>
                          </a:solidFill>
                        </a:defRPr>
                      </a:pPr>
                      <a:r>
                        <a:t>38.7%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44336"/>
                          </a:solidFill>
                        </a:defRPr>
                      </a:pPr>
                      <a:r>
                        <a:t>36.1%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44336"/>
                          </a:solidFill>
                        </a:defRPr>
                      </a:pPr>
                      <a:r>
                        <a:t>35.1%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/>
                      </a:pPr>
                      <a:r>
                        <a:t>36.1%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(36,54)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44336"/>
                          </a:solidFill>
                        </a:defRPr>
                      </a:pPr>
                      <a:r>
                        <a:t>47.9%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44336"/>
                          </a:solidFill>
                        </a:defRPr>
                      </a:pPr>
                      <a:r>
                        <a:t>51.9%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44336"/>
                          </a:solidFill>
                        </a:defRPr>
                      </a:pPr>
                      <a:r>
                        <a:t>49.2%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44336"/>
                          </a:solidFill>
                        </a:defRPr>
                      </a:pPr>
                      <a:r>
                        <a:t>48.5%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/>
                      </a:pPr>
                      <a:r>
                        <a:t>49.4%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(39,49)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44336"/>
                          </a:solidFill>
                        </a:defRPr>
                      </a:pPr>
                      <a:r>
                        <a:t>38.7%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44336"/>
                          </a:solidFill>
                        </a:defRPr>
                      </a:pPr>
                      <a:r>
                        <a:t>40.6%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44336"/>
                          </a:solidFill>
                        </a:defRPr>
                      </a:pPr>
                      <a:r>
                        <a:t>39.1%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44336"/>
                          </a:solidFill>
                        </a:defRPr>
                      </a:pPr>
                      <a:r>
                        <a:t>41.1%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/>
                      </a:pPr>
                      <a:r>
                        <a:t>39.9%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0" y="50292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Stitched Die Comparison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PLM Type: Stitched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Total Dies: 5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Regions per Die: 4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Files/Trials: 3</a:t>
            </a:r>
          </a:p>
          <a:p>
            <a:pPr>
              <a:defRPr sz="600" b="0"/>
            </a:pPr>
          </a:p>
          <a:p>
            <a:pPr>
              <a:defRPr sz="1000" b="1">
                <a:solidFill>
                  <a:srgbClr val="388E3C"/>
                </a:solidFill>
              </a:defRPr>
            </a:pPr>
            <a:r>
              <a:t>Best:  Die(33,33) R3 - 25.1%</a:t>
            </a:r>
          </a:p>
          <a:p>
            <a:pPr>
              <a:defRPr sz="1000" b="1">
                <a:solidFill>
                  <a:srgbClr val="F44336"/>
                </a:solidFill>
              </a:defRPr>
            </a:pPr>
            <a:r>
              <a:t>Worst: Die(36,54) R2 - 51.9%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956816"/>
            <a:ext cx="1179576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PLM-GAGE Summary (Mean): UniformitySyn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0000"/>
                </a:solidFill>
              </a:defRPr>
            </a:pPr>
            <a:r>
              <a:t>Assessment: UNACCEPTABLE</a:t>
            </a:r>
          </a:p>
          <a:p>
            <a:pPr>
              <a:defRPr sz="1200" b="0"/>
            </a:pPr>
            <a:r>
              <a:t>Mean %GRR: 84.94%</a:t>
            </a:r>
          </a:p>
          <a:p>
            <a:pPr>
              <a:defRPr sz="1200" b="0"/>
            </a:pPr>
            <a:r>
              <a:t>Mean ndc: 0.9</a:t>
            </a:r>
          </a:p>
          <a:p>
            <a:pPr>
              <a:defRPr sz="1200" b="0"/>
            </a:pPr>
            <a:r>
              <a:t>Mean Repeatability: 42.52%</a:t>
            </a:r>
          </a:p>
          <a:p>
            <a:pPr>
              <a:defRPr sz="1200" b="0"/>
            </a:pPr>
            <a:r>
              <a:t>Mean Reproducibility: 73.49%</a:t>
            </a:r>
          </a:p>
          <a:p>
            <a:pPr>
              <a:defRPr sz="1200" b="0"/>
            </a:pPr>
            <a:r>
              <a:t>Positions analyzed: 5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200400"/>
            <a:ext cx="1161288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PLM-GAGE Summary (Median): UniformitySyn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0000"/>
                </a:solidFill>
              </a:defRPr>
            </a:pPr>
            <a:r>
              <a:t>Assessment: UNACCEPTABLE</a:t>
            </a:r>
          </a:p>
          <a:p>
            <a:pPr>
              <a:defRPr sz="1200" b="0"/>
            </a:pPr>
            <a:r>
              <a:t>Median %GRR: 87.09%</a:t>
            </a:r>
          </a:p>
          <a:p>
            <a:pPr>
              <a:defRPr sz="1200" b="0"/>
            </a:pPr>
            <a:r>
              <a:t>Median ndc: 0.8</a:t>
            </a:r>
          </a:p>
          <a:p>
            <a:pPr>
              <a:defRPr sz="1200" b="0"/>
            </a:pPr>
            <a:r>
              <a:t>Median Repeatability: 44.09%</a:t>
            </a:r>
          </a:p>
          <a:p>
            <a:pPr>
              <a:defRPr sz="1200" b="0"/>
            </a:pPr>
            <a:r>
              <a:t>Median Reproducibility: 77.33%</a:t>
            </a:r>
          </a:p>
          <a:p>
            <a:pPr>
              <a:defRPr sz="1200" b="0"/>
            </a:pPr>
            <a:r>
              <a:t>Positions analyzed: 5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200400"/>
            <a:ext cx="1161288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PLM Pixel Analysis - UniformitySyn - Die (31,24)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02920"/>
          <a:ext cx="71323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645920"/>
                <a:gridCol w="640080"/>
                <a:gridCol w="777240"/>
                <a:gridCol w="640080"/>
                <a:gridCol w="868680"/>
                <a:gridCol w="868680"/>
                <a:gridCol w="109728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Position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ndc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Repeat.%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Reprod.%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R1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(10,8)-&gt;(20,19)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10x11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91.0%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42.2%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80.6%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UNACCEPTABLE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4CAF50"/>
                          </a:solidFill>
                        </a:defRPr>
                      </a:pPr>
                      <a:r>
                        <a:t>R2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(30,29)-&gt;(39,49)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9x20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85.8%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0.8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43.1%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74.2%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UNACCEPTABLE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196F3"/>
                          </a:solidFill>
                        </a:defRPr>
                      </a:pPr>
                      <a:r>
                        <a:t>R3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(8,46)-&gt;(17,58)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9x12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88.4%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44.8%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76.2%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UNACCEPTABLE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EB3B"/>
                          </a:solidFill>
                        </a:defRPr>
                      </a:pPr>
                      <a:r>
                        <a:t>R4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(18,33)-&gt;(26,45)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8x12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92.4%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0.6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46.2%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80.0%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UNACCEPTABLE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0" y="50292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Die (31, 24)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PLM Type: UniformitySyn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Regions: 4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Files/Trials: 3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Pixels/Region: 110</a:t>
            </a:r>
          </a:p>
          <a:p>
            <a:pPr>
              <a:defRPr sz="800" b="0"/>
            </a:pPr>
          </a:p>
          <a:p>
            <a:pPr>
              <a:defRPr sz="1000" b="1">
                <a:solidFill>
                  <a:srgbClr val="388E3C"/>
                </a:solidFill>
              </a:defRPr>
            </a:pPr>
            <a:r>
              <a:t>Best:  R2 - %GRR=85.8%</a:t>
            </a:r>
          </a:p>
          <a:p>
            <a:pPr>
              <a:defRPr sz="1000" b="1">
                <a:solidFill>
                  <a:srgbClr val="F44336"/>
                </a:solidFill>
              </a:defRPr>
            </a:pPr>
            <a:r>
              <a:t>Worst: R4 - %GRR=92.4%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920240"/>
            <a:ext cx="1179576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PLM Pixel Analysis - UniformitySyn - Die (33,33)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02920"/>
          <a:ext cx="71323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645920"/>
                <a:gridCol w="640080"/>
                <a:gridCol w="777240"/>
                <a:gridCol w="640080"/>
                <a:gridCol w="868680"/>
                <a:gridCol w="868680"/>
                <a:gridCol w="109728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Position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ndc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Repeat.%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Reprod.%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R1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(10,8)-&gt;(20,19)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10x11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86.8%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39.7%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77.2%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UNACCEPTABLE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4CAF50"/>
                          </a:solidFill>
                        </a:defRPr>
                      </a:pPr>
                      <a:r>
                        <a:t>R2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(30,29)-&gt;(39,49)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9x20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86.3%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0.8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38.7%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77.1%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UNACCEPTABLE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196F3"/>
                          </a:solidFill>
                        </a:defRPr>
                      </a:pPr>
                      <a:r>
                        <a:t>R3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(8,46)-&gt;(17,58)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9x12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87.4%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39.8%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77.8%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UNACCEPTABLE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EB3B"/>
                          </a:solidFill>
                        </a:defRPr>
                      </a:pPr>
                      <a:r>
                        <a:t>R4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(18,33)-&gt;(26,45)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8x12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87.9%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0.8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42.0%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77.2%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UNACCEPTABLE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0" y="50292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Die (33, 33)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PLM Type: UniformitySyn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Regions: 4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Files/Trials: 3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Pixels/Region: 110</a:t>
            </a:r>
          </a:p>
          <a:p>
            <a:pPr>
              <a:defRPr sz="800" b="0"/>
            </a:pPr>
          </a:p>
          <a:p>
            <a:pPr>
              <a:defRPr sz="1000" b="1">
                <a:solidFill>
                  <a:srgbClr val="388E3C"/>
                </a:solidFill>
              </a:defRPr>
            </a:pPr>
            <a:r>
              <a:t>Best:  R2 - %GRR=86.3%</a:t>
            </a:r>
          </a:p>
          <a:p>
            <a:pPr>
              <a:defRPr sz="1000" b="1">
                <a:solidFill>
                  <a:srgbClr val="F44336"/>
                </a:solidFill>
              </a:defRPr>
            </a:pPr>
            <a:r>
              <a:t>Worst: R4 - %GRR=87.9%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920240"/>
            <a:ext cx="1179576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PLM Pixel Analysis - UniformitySyn - Die (35,44)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02920"/>
          <a:ext cx="71323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645920"/>
                <a:gridCol w="640080"/>
                <a:gridCol w="777240"/>
                <a:gridCol w="640080"/>
                <a:gridCol w="868680"/>
                <a:gridCol w="868680"/>
                <a:gridCol w="109728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Position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ndc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Repeat.%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Reprod.%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R1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(10,8)-&gt;(20,19)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10x11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78.3%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41.4%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66.5%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UNACCEPTABLE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4CAF50"/>
                          </a:solidFill>
                        </a:defRPr>
                      </a:pPr>
                      <a:r>
                        <a:t>R2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(30,29)-&gt;(39,49)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9x20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67.2%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1.6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33.4%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58.3%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UNACCEPTABLE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196F3"/>
                          </a:solidFill>
                        </a:defRPr>
                      </a:pPr>
                      <a:r>
                        <a:t>R3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(8,46)-&gt;(17,58)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9x12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67.1%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32.0%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59.0%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UNACCEPTABLE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EB3B"/>
                          </a:solidFill>
                        </a:defRPr>
                      </a:pPr>
                      <a:r>
                        <a:t>R4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(18,33)-&gt;(26,45)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8x12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74.1%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1.3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36.9%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64.2%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UNACCEPTABLE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0" y="50292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Die (35, 44)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PLM Type: UniformitySyn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Regions: 4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Files/Trials: 3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Pixels/Region: 110</a:t>
            </a:r>
          </a:p>
          <a:p>
            <a:pPr>
              <a:defRPr sz="800" b="0"/>
            </a:pPr>
          </a:p>
          <a:p>
            <a:pPr>
              <a:defRPr sz="1000" b="1">
                <a:solidFill>
                  <a:srgbClr val="388E3C"/>
                </a:solidFill>
              </a:defRPr>
            </a:pPr>
            <a:r>
              <a:t>Best:  R3 - %GRR=67.1%</a:t>
            </a:r>
          </a:p>
          <a:p>
            <a:pPr>
              <a:defRPr sz="1000" b="1">
                <a:solidFill>
                  <a:srgbClr val="F44336"/>
                </a:solidFill>
              </a:defRPr>
            </a:pPr>
            <a:r>
              <a:t>Worst: R1 - %GRR=78.3%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920240"/>
            <a:ext cx="1179576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PLM Pixel Analysis - UniformitySyn - Die (36,54)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02920"/>
          <a:ext cx="71323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645920"/>
                <a:gridCol w="640080"/>
                <a:gridCol w="777240"/>
                <a:gridCol w="640080"/>
                <a:gridCol w="868680"/>
                <a:gridCol w="868680"/>
                <a:gridCol w="109728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Position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ndc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Repeat.%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Reprod.%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R1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(10,8)-&gt;(20,19)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10x11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92.7%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48.9%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78.7%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UNACCEPTABLE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4CAF50"/>
                          </a:solidFill>
                        </a:defRPr>
                      </a:pPr>
                      <a:r>
                        <a:t>R2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(30,29)-&gt;(39,49)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9x20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91.4%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0.6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48.1%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77.7%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UNACCEPTABLE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196F3"/>
                          </a:solidFill>
                        </a:defRPr>
                      </a:pPr>
                      <a:r>
                        <a:t>R3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(8,46)-&gt;(17,58)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9x12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89.8%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47.6%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76.1%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UNACCEPTABLE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EB3B"/>
                          </a:solidFill>
                        </a:defRPr>
                      </a:pPr>
                      <a:r>
                        <a:t>R4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(18,33)-&gt;(26,45)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8x12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91.6%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0.6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48.5%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77.7%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UNACCEPTABLE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0" y="50292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Die (36, 54)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PLM Type: UniformitySyn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Regions: 4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Files/Trials: 3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Pixels/Region: 110</a:t>
            </a:r>
          </a:p>
          <a:p>
            <a:pPr>
              <a:defRPr sz="800" b="0"/>
            </a:pPr>
          </a:p>
          <a:p>
            <a:pPr>
              <a:defRPr sz="1000" b="1">
                <a:solidFill>
                  <a:srgbClr val="388E3C"/>
                </a:solidFill>
              </a:defRPr>
            </a:pPr>
            <a:r>
              <a:t>Best:  R3 - %GRR=89.8%</a:t>
            </a:r>
          </a:p>
          <a:p>
            <a:pPr>
              <a:defRPr sz="1000" b="1">
                <a:solidFill>
                  <a:srgbClr val="F44336"/>
                </a:solidFill>
              </a:defRPr>
            </a:pPr>
            <a:r>
              <a:t>Worst: R1 - %GRR=92.7%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920240"/>
            <a:ext cx="1179576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PLM Pixel Analysis - UniformitySyn - Die (39,49)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02920"/>
          <a:ext cx="71323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645920"/>
                <a:gridCol w="640080"/>
                <a:gridCol w="777240"/>
                <a:gridCol w="640080"/>
                <a:gridCol w="868680"/>
                <a:gridCol w="868680"/>
                <a:gridCol w="109728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Position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ndc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Repeat.%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Reprod.%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R1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(10,8)-&gt;(20,19)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10x11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87.1%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46.2%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73.8%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UNACCEPTABLE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4CAF50"/>
                          </a:solidFill>
                        </a:defRPr>
                      </a:pPr>
                      <a:r>
                        <a:t>R2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(30,29)-&gt;(39,49)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9x20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83.5%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0.9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43.7%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71.2%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UNACCEPTABLE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196F3"/>
                          </a:solidFill>
                        </a:defRPr>
                      </a:pPr>
                      <a:r>
                        <a:t>R3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(8,46)-&gt;(17,58)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9x12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85.1%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42.9%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73.4%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UNACCEPTABLE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EB3B"/>
                          </a:solidFill>
                        </a:defRPr>
                      </a:pPr>
                      <a:r>
                        <a:t>R4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(18,33)-&gt;(26,45)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8x12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85.2%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0.9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44.0%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72.9%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UNACCEPTABLE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0" y="50292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Die (39, 49)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PLM Type: UniformitySyn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Regions: 4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Files/Trials: 3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Pixels/Region: 110</a:t>
            </a:r>
          </a:p>
          <a:p>
            <a:pPr>
              <a:defRPr sz="800" b="0"/>
            </a:pPr>
          </a:p>
          <a:p>
            <a:pPr>
              <a:defRPr sz="1000" b="1">
                <a:solidFill>
                  <a:srgbClr val="388E3C"/>
                </a:solidFill>
              </a:defRPr>
            </a:pPr>
            <a:r>
              <a:t>Best:  R2 - %GRR=83.5%</a:t>
            </a:r>
          </a:p>
          <a:p>
            <a:pPr>
              <a:defRPr sz="1000" b="1">
                <a:solidFill>
                  <a:srgbClr val="F44336"/>
                </a:solidFill>
              </a:defRPr>
            </a:pPr>
            <a:r>
              <a:t>Worst: R1 - %GRR=87.1%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920240"/>
            <a:ext cx="1179576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45720"/>
            <a:ext cx="1179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PLM Pixel Analysis - UniformitySyn Overview - UniformitySyn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02920"/>
          <a:ext cx="804672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120"/>
                <a:gridCol w="1341120"/>
                <a:gridCol w="1341120"/>
                <a:gridCol w="1341120"/>
                <a:gridCol w="1341120"/>
                <a:gridCol w="1341120"/>
              </a:tblGrid>
              <a:tr h="219456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Die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R1 %GRR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R2 %GRR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R3 %GRR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R4 %GRR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Avg 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(31,24)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44336"/>
                          </a:solidFill>
                        </a:defRPr>
                      </a:pPr>
                      <a:r>
                        <a:t>91.0%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44336"/>
                          </a:solidFill>
                        </a:defRPr>
                      </a:pPr>
                      <a:r>
                        <a:t>85.8%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44336"/>
                          </a:solidFill>
                        </a:defRPr>
                      </a:pPr>
                      <a:r>
                        <a:t>88.4%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44336"/>
                          </a:solidFill>
                        </a:defRPr>
                      </a:pPr>
                      <a:r>
                        <a:t>92.4%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/>
                      </a:pPr>
                      <a:r>
                        <a:t>89.4%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(33,33)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44336"/>
                          </a:solidFill>
                        </a:defRPr>
                      </a:pPr>
                      <a:r>
                        <a:t>86.8%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44336"/>
                          </a:solidFill>
                        </a:defRPr>
                      </a:pPr>
                      <a:r>
                        <a:t>86.3%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44336"/>
                          </a:solidFill>
                        </a:defRPr>
                      </a:pPr>
                      <a:r>
                        <a:t>87.4%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44336"/>
                          </a:solidFill>
                        </a:defRPr>
                      </a:pPr>
                      <a:r>
                        <a:t>87.9%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/>
                      </a:pPr>
                      <a:r>
                        <a:t>87.1%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(35,44)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44336"/>
                          </a:solidFill>
                        </a:defRPr>
                      </a:pPr>
                      <a:r>
                        <a:t>78.3%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44336"/>
                          </a:solidFill>
                        </a:defRPr>
                      </a:pPr>
                      <a:r>
                        <a:t>67.2%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44336"/>
                          </a:solidFill>
                        </a:defRPr>
                      </a:pPr>
                      <a:r>
                        <a:t>67.1%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44336"/>
                          </a:solidFill>
                        </a:defRPr>
                      </a:pPr>
                      <a:r>
                        <a:t>74.1%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/>
                      </a:pPr>
                      <a:r>
                        <a:t>71.7%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(36,54)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44336"/>
                          </a:solidFill>
                        </a:defRPr>
                      </a:pPr>
                      <a:r>
                        <a:t>92.7%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44336"/>
                          </a:solidFill>
                        </a:defRPr>
                      </a:pPr>
                      <a:r>
                        <a:t>91.4%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44336"/>
                          </a:solidFill>
                        </a:defRPr>
                      </a:pPr>
                      <a:r>
                        <a:t>89.8%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44336"/>
                          </a:solidFill>
                        </a:defRPr>
                      </a:pPr>
                      <a:r>
                        <a:t>91.6%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/>
                      </a:pPr>
                      <a:r>
                        <a:t>91.4%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(39,49)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44336"/>
                          </a:solidFill>
                        </a:defRPr>
                      </a:pPr>
                      <a:r>
                        <a:t>87.1%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44336"/>
                          </a:solidFill>
                        </a:defRPr>
                      </a:pPr>
                      <a:r>
                        <a:t>83.5%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44336"/>
                          </a:solidFill>
                        </a:defRPr>
                      </a:pPr>
                      <a:r>
                        <a:t>85.1%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44336"/>
                          </a:solidFill>
                        </a:defRPr>
                      </a:pPr>
                      <a:r>
                        <a:t>85.2%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/>
                      </a:pPr>
                      <a:r>
                        <a:t>85.2%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0" y="50292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UniformitySyn Die Comparison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PLM Type: UniformitySyn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Total Dies: 5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Regions per Die: 4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Files/Trials: 3</a:t>
            </a:r>
          </a:p>
          <a:p>
            <a:pPr>
              <a:defRPr sz="600" b="0"/>
            </a:pPr>
          </a:p>
          <a:p>
            <a:pPr>
              <a:defRPr sz="1000" b="1">
                <a:solidFill>
                  <a:srgbClr val="388E3C"/>
                </a:solidFill>
              </a:defRPr>
            </a:pPr>
            <a:r>
              <a:t>Best:  Die(35,44) R3 - 67.1%</a:t>
            </a:r>
          </a:p>
          <a:p>
            <a:pPr>
              <a:defRPr sz="1000" b="1">
                <a:solidFill>
                  <a:srgbClr val="F44336"/>
                </a:solidFill>
              </a:defRPr>
            </a:pPr>
            <a:r>
              <a:t>Worst: Die(36,54) R1 - 92.7%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956816"/>
            <a:ext cx="11795760" cy="3200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