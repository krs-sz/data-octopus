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Wafermap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Generated on 2026-02-26 13:46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</a:defRPr>
            </a:pPr>
            <a:r>
              <a:t>Gage R&amp;R Report - Agenda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914400"/>
          <a:ext cx="10911535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114800"/>
                <a:gridCol w="1828800"/>
                <a:gridCol w="2286000"/>
                <a:gridCol w="2041855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Parameters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Pages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Slides</a:t>
                      </a:r>
                    </a:p>
                  </a:txBody>
                  <a:tcPr anchor="ctr">
                    <a:solidFill>
                      <a:srgbClr val="1565C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📋 Agenda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📖 Calculation Parameters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3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Dc_Pwr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4-8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📍 Stitched - Pixel Position based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 dies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Page 9-19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2697480"/>
            <a:ext cx="109115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1565C0"/>
                </a:solidFill>
              </a:defRPr>
            </a:pPr>
            <a:r>
              <a:t>Total: 4 Groups | 10 Parameters | 18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00"/>
                </a:solidFill>
              </a:defRPr>
            </a:pPr>
            <a:r>
              <a:t>Gage R&amp;R - Calculation Parameters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BASIC STATISTICAL VALUES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Mean (Mittelwert):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Mean = Σ(xi) / 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Std Dev (Standardabweichung):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 of dispersion around the mean.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σ = √[Σ(xi - Mean)² / n]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Range (Spannweite):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Difference between maximum and minimum.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Range = Max - Min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LSL / USL (Spec Limits):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Statistical limits (k = sigma factor).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LSL = Mean - kσ  |  USL = Mean + kσ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GAGE R&amp;R COMPONENTS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Repeatability (EV):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EV = Mean(σ within each file)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Reproducibility (AV):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Variation between files/operators/trials.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AV = σ(file means)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GRR Total: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Combined measurement system variation.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GRR = R̄ / d₂  (Range Method)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594360"/>
            <a:ext cx="566928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00000"/>
                </a:solidFill>
              </a:defRPr>
            </a:pPr>
            <a:r>
              <a:t>ASSESSMENT METRICS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%GRR (Prozent GRR):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%GRR = (GRR / TV) × 100  or  (GRR / Tolerance) × 100</a:t>
            </a:r>
          </a:p>
          <a:p>
            <a:pPr>
              <a:defRPr sz="400" b="0"/>
            </a:pPr>
          </a:p>
          <a:p>
            <a:pPr>
              <a:defRPr sz="1000" b="1">
                <a:solidFill>
                  <a:srgbClr val="800000"/>
                </a:solidFill>
              </a:defRPr>
            </a:pPr>
            <a:r>
              <a:t>ndc (Using Total Variation):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 b="0">
                <a:solidFill>
                  <a:srgbClr val="006400"/>
                </a:solidFill>
              </a:defRPr>
            </a:pPr>
            <a:r>
              <a:t>  ndc = 1.41 × (TV / GRR)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ASSESSMENT CRITERIA (AIAG MSA)</a:t>
            </a:r>
          </a:p>
          <a:p>
            <a:pPr>
              <a:defRPr sz="600" b="0"/>
            </a:pPr>
          </a:p>
          <a:p>
            <a:pPr>
              <a:defRPr sz="1100" b="1">
                <a:solidFill>
                  <a:srgbClr val="388E3C"/>
                </a:solidFill>
              </a:defRPr>
            </a:pPr>
            <a:r>
              <a:t>🟢 EXCELLENT:  %GRR &lt; 10%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is acceptable.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F9800"/>
                </a:solidFill>
              </a:defRPr>
            </a:pPr>
            <a:r>
              <a:t>🟡 ACCEPTABLE:  10% ≤ %GRR &lt;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May be acceptable depending on application.</a:t>
            </a:r>
          </a:p>
          <a:p>
            <a:pPr>
              <a:defRPr sz="400" b="0"/>
            </a:pPr>
          </a:p>
          <a:p>
            <a:pPr>
              <a:defRPr sz="1100" b="1">
                <a:solidFill>
                  <a:srgbClr val="F44336"/>
                </a:solidFill>
              </a:defRPr>
            </a:pPr>
            <a:r>
              <a:t>🔴 UNACCEPTABLE:  %GRR ≥ 30%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Measurement system must be improved.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000000"/>
                </a:solidFill>
              </a:defRPr>
            </a:pPr>
            <a:r>
              <a:t>ndc ≥ 5:  Good measurement system</a:t>
            </a:r>
          </a:p>
          <a:p>
            <a:pPr>
              <a:defRPr sz="800" b="0">
                <a:solidFill>
                  <a:srgbClr val="505050"/>
                </a:solidFill>
              </a:defRPr>
            </a:pPr>
            <a:r>
              <a:t>  Can distinguish ≥ 5 distinct categories.</a:t>
            </a:r>
          </a:p>
          <a:p>
            <a:pPr>
              <a:defRPr sz="800" b="0"/>
            </a:pPr>
          </a:p>
          <a:p>
            <a:pPr>
              <a:defRPr sz="1300" b="1">
                <a:solidFill>
                  <a:srgbClr val="800000"/>
                </a:solidFill>
              </a:defRPr>
            </a:pPr>
            <a:r>
              <a:t>INTERPRETATION</a:t>
            </a:r>
          </a:p>
          <a:p>
            <a:pPr>
              <a:defRPr sz="600" b="0"/>
            </a:pP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Repeatability → Equipment/method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High Reproducibility → Operator/process/time problem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ndc should be ≥ 5 for a good measurement system</a:t>
            </a:r>
          </a:p>
          <a:p>
            <a:pPr>
              <a:defRPr sz="900" b="0">
                <a:solidFill>
                  <a:srgbClr val="323232"/>
                </a:solidFill>
              </a:defRPr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Study Overview - Dc_Pwr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4008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64008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Study Configuration</a:t>
            </a:r>
          </a:p>
          <a:p>
            <a:pPr>
              <a:defRPr sz="1000"/>
            </a:pPr>
            <a:r>
              <a:t>• Files/Trials: 3   • Dies/Parts: 10   • Parameters: 11</a:t>
            </a:r>
          </a:p>
          <a:p>
            <a:br/>
            <a:pPr>
              <a:defRPr sz="1200" b="1"/>
            </a:pPr>
            <a:r>
              <a:t>Parameters Analyzed:</a:t>
            </a:r>
          </a:p>
          <a:p>
            <a:pPr>
              <a:defRPr sz="900">
                <a:latin typeface="Consolas"/>
              </a:defRPr>
            </a:pPr>
            <a:r>
              <a:t>  1. 11405006: STATIC_VDD10_VNOM_X VDD10 22.g404hc</a:t>
            </a:r>
          </a:p>
          <a:p>
            <a:pPr>
              <a:defRPr sz="900">
                <a:latin typeface="Consolas"/>
              </a:defRPr>
            </a:pPr>
            <a:r>
              <a:t>  2. 11405007: STATIC_VDD18IO_VNOM_X VDD18IO 22.a4</a:t>
            </a:r>
          </a:p>
          <a:p>
            <a:pPr>
              <a:defRPr sz="900">
                <a:latin typeface="Consolas"/>
              </a:defRPr>
            </a:pPr>
            <a:r>
              <a:t>  3. 11405008: STATIC_AVDD18_VNOM_X AVDD18 22.c403</a:t>
            </a:r>
          </a:p>
          <a:p>
            <a:pPr>
              <a:defRPr sz="900">
                <a:latin typeface="Consolas"/>
              </a:defRPr>
            </a:pPr>
            <a:r>
              <a:t>  4. 11405009: STATIC_AVEE_VNOM_X AVEE 20.w402 &lt;&gt; </a:t>
            </a:r>
          </a:p>
          <a:p>
            <a:pPr>
              <a:defRPr sz="900">
                <a:latin typeface="Consolas"/>
              </a:defRPr>
            </a:pPr>
            <a:r>
              <a:t>  5. 11405010: STATIC_TotalPower_VNOM_X TotalPower</a:t>
            </a:r>
          </a:p>
          <a:p>
            <a:pPr>
              <a:defRPr sz="900">
                <a:latin typeface="Consolas"/>
              </a:defRPr>
            </a:pPr>
            <a:r>
              <a:t>  6. 11405011: STATIC_VDD10_VMIN_X VDD10 22.g404hc</a:t>
            </a:r>
          </a:p>
          <a:p>
            <a:pPr>
              <a:defRPr sz="900">
                <a:latin typeface="Consolas"/>
              </a:defRPr>
            </a:pPr>
            <a:r>
              <a:t>  7. 11405012: STATIC_VDD18IO_VMIN_X VDD18IO 22.a4</a:t>
            </a:r>
          </a:p>
          <a:p>
            <a:pPr>
              <a:defRPr sz="900">
                <a:latin typeface="Consolas"/>
              </a:defRPr>
            </a:pPr>
            <a:r>
              <a:t>  8. 11405013: STATIC_AVDD18_VMIN_X AVDD18 22.c403</a:t>
            </a:r>
          </a:p>
          <a:p>
            <a:pPr>
              <a:defRPr sz="900"/>
            </a:pPr>
            <a:r>
              <a:t>  ... +2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0"/>
            <a:ext cx="11612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4336"/>
                </a:solidFill>
              </a:defRPr>
            </a:pPr>
            <a:r>
              <a:t>Overall Result: FAIL</a:t>
            </a:r>
          </a:p>
          <a:p>
            <a:pPr>
              <a:defRPr sz="1100"/>
            </a:pPr>
            <a:r>
              <a:t>✗ Gage R&amp;R FAILED for 6 parameter(s) due to excessive measurement variation (&gt;30%).</a:t>
            </a:r>
            <a:br/>
            <a:r>
              <a:t>   Failing parameters: DC_PWR_STATIC_AVEE_VMIN_X, DC_PWR_STATIC_AVEE_VNOM_X, DC_PWR_STATIC_AVDD18_VNOM (+3 more)</a:t>
            </a:r>
            <a:br/>
            <a:r>
              <a:t>   Recommendation: Review measurement equipment, operator training, or test methodology.</a:t>
            </a:r>
          </a:p>
          <a:p>
            <a:br/>
            <a:pPr>
              <a:defRPr sz="1000">
                <a:solidFill>
                  <a:srgbClr val="646464"/>
                </a:solidFill>
              </a:defRPr>
            </a:pPr>
            <a:r>
              <a:t>Assessment: 0 Excellent | 4 Acceptable | 6 Unacceptable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Calculation Parameters (Formulas)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BASIC STATISTICAL VALUES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Mean (Mittelwert):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Average of all measurements across all files and 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Mean = Σ(xi) / 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Std Dev (Standardabweichung):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 of dispersion around the mean.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σ = √[Σ(xi - Mean)² / n]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Range (Spannweite):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Difference between maximum and minimum.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Range = Max - Min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LSL / USL (Spec Limits):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Statistical limits (k = sigma factor).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LSL = Mean - kσ   |   USL = Mean + kσ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GAGE R&amp;R COMPONENTS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Repeatability (EV):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within measurements of one file (equipment).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EV = Mean(σ within each file)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Reproducibility (AV):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Variation between files/operators/trials.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AV = σ(file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GRR Total: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Combined measurement system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GRR = R̄ / d₂   (Range Method)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Part Variation (PV):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True variation between parts/dies.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PV = σ(part means)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Total Variation (TV):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Total observed variation.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TV = √(PV² + GRR²)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731520"/>
            <a:ext cx="566928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METRICS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%GRR (Prozent GRR):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GRR as percentage of total variation or tolerance.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%GRR = (GRR / TV) × 100   or   (GRR / Tolerance) × 100</a:t>
            </a:r>
          </a:p>
          <a:p/>
          <a:p>
            <a:pPr>
              <a:defRPr sz="1000" b="1">
                <a:solidFill>
                  <a:srgbClr val="D32F2F"/>
                </a:solidFill>
              </a:defRPr>
            </a:pPr>
            <a:r>
              <a:t>ndc (Using Part Variation):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Number of distinct categories the system can distinguish.</a:t>
            </a:r>
          </a:p>
          <a:p>
            <a:pPr>
              <a:defRPr sz="900">
                <a:solidFill>
                  <a:srgbClr val="7B1FA2"/>
                </a:solidFill>
                <a:latin typeface="Consolas"/>
              </a:defRPr>
            </a:pPr>
            <a:r>
              <a:t>  ndc = 1.41 × (PV / GRR)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ASSESSMENT CRITERIA (AIAG MSA)</a:t>
            </a:r>
          </a:p>
          <a:p/>
          <a:p>
            <a:pPr>
              <a:defRPr sz="1000" b="1"/>
            </a:pPr>
            <a:r>
              <a:t>🟢 EXCELLENT:  %GRR &lt; 10%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is acceptable.</a:t>
            </a:r>
          </a:p>
          <a:p/>
          <a:p>
            <a:pPr>
              <a:defRPr sz="1000" b="1"/>
            </a:pPr>
            <a:r>
              <a:t>🟡 ACCEPTABLE:  10% ≤ %GRR &lt;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May be acceptable depending on application.</a:t>
            </a:r>
          </a:p>
          <a:p/>
          <a:p>
            <a:pPr>
              <a:defRPr sz="1000" b="1"/>
            </a:pPr>
            <a:r>
              <a:t>🔴 UNACCEPTABLE:  %GRR ≥ 30%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Measurement system must be improved.</a:t>
            </a:r>
          </a:p>
          <a:p/>
          <a:p>
            <a:pPr>
              <a:defRPr sz="1000" b="1"/>
            </a:pPr>
            <a:r>
              <a:t>ndc ≥ 5:  Good measurement system</a:t>
            </a:r>
          </a:p>
          <a:p>
            <a:pPr>
              <a:defRPr sz="800">
                <a:solidFill>
                  <a:srgbClr val="646464"/>
                </a:solidFill>
              </a:defRPr>
            </a:pPr>
            <a:r>
              <a:t>  Can distinguish ≥ 5 distinct categories.</a:t>
            </a:r>
          </a:p>
          <a:p/>
          <a:p>
            <a:pPr>
              <a:defRPr sz="1300" b="1">
                <a:solidFill>
                  <a:srgbClr val="388E3C"/>
                </a:solidFill>
              </a:defRPr>
            </a:pPr>
            <a:r>
              <a:t>INTERPRETATION</a:t>
            </a:r>
          </a:p>
          <a:p>
            <a:pPr>
              <a:defRPr sz="900"/>
            </a:pPr>
            <a:r>
              <a:t>• High Repeatability → Equipment/method problem</a:t>
            </a:r>
          </a:p>
          <a:p>
            <a:pPr>
              <a:defRPr sz="900"/>
            </a:pPr>
            <a:r>
              <a:t>• High Reproducibility → Operator/process/time problem</a:t>
            </a:r>
          </a:p>
          <a:p>
            <a:pPr>
              <a:defRPr sz="900"/>
            </a:pPr>
            <a:r>
              <a:t>• ndc should be ≥ 5 for a good measurement system</a:t>
            </a:r>
          </a:p>
          <a:p>
            <a:pPr>
              <a:defRPr sz="900"/>
            </a:pPr>
            <a:r>
              <a:t>• Values outside LSL/USL indicate outliers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Analysis Summary - Dc_Pwr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85800"/>
            <a:ext cx="4572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Study Information:</a:t>
            </a:r>
            <a:br/>
            <a:r>
              <a:t>  • Files (Operators/Trials): 3</a:t>
            </a:r>
            <a:br/>
            <a:r>
              <a:t>  • Dies (Parts): 10</a:t>
            </a:r>
            <a:br/>
            <a:r>
              <a:t>  • Parameters Analyzed: 11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Gage R&amp;R - Variance Components - Dc_Pwr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434840"/>
            <a:ext cx="1161288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Interpretation:</a:t>
            </a:r>
          </a:p>
          <a:p>
            <a:pPr>
              <a:defRPr sz="1000"/>
            </a:pPr>
            <a:r>
              <a:t>• Repeatability (blue): Variation when same operator measures same part multiple times (equipment variation)</a:t>
            </a:r>
          </a:p>
          <a:p>
            <a:pPr>
              <a:defRPr sz="1000"/>
            </a:pPr>
            <a:r>
              <a:t>• Reproducibility (red): Variation between different operators/trials measuring same part (operator variation)</a:t>
            </a:r>
          </a:p>
          <a:p>
            <a:pPr>
              <a:defRPr sz="1000" i="1">
                <a:solidFill>
                  <a:srgbClr val="006496"/>
                </a:solidFill>
              </a:defRPr>
            </a:pPr>
            <a:r>
              <a:t>→ Analysis: Repeatability (41.7%) &gt; Reproducibility (19.7%). Equipment/method variation is dominant. Consider equipment calibration or method refinement.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16430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Gage R&amp;R - %GRR and ndc - Dc_Pwr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1161288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4251959"/>
            <a:ext cx="1161288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/>
            </a:pPr>
            <a:r>
              <a:t>Acceptance Criteria &amp; Interpretation:</a:t>
            </a:r>
          </a:p>
          <a:p>
            <a:pPr>
              <a:defRPr sz="900">
                <a:solidFill>
                  <a:srgbClr val="4CAF50"/>
                </a:solidFill>
              </a:defRPr>
            </a:pPr>
            <a:r>
              <a:t>• %GRR &lt; 10%: EXCELLENT - Measurement system is excellent for this application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• %GRR 10-30%: ACCEPTABLE - May be acceptable depending on application criticality</a:t>
            </a:r>
          </a:p>
          <a:p>
            <a:pPr>
              <a:defRPr sz="900">
                <a:solidFill>
                  <a:srgbClr val="F44336"/>
                </a:solidFill>
              </a:defRPr>
            </a:pPr>
            <a:r>
              <a:t>• %GRR &gt; 30%: UNACCEPTABLE - Measurement system needs improvement</a:t>
            </a:r>
          </a:p>
          <a:p>
            <a:br/>
            <a:pPr>
              <a:defRPr sz="900"/>
            </a:pPr>
            <a:r>
              <a:t>• ndc (Number of Distinct Categories): Indicates how many distinct categories the measurement can reliably distinguish. ndc ≥ 5 is recommended.</a:t>
            </a:r>
          </a:p>
          <a:p>
            <a:pPr>
              <a:defRPr sz="900">
                <a:solidFill>
                  <a:srgbClr val="FF9800"/>
                </a:solidFill>
              </a:defRPr>
            </a:pPr>
            <a:r>
              <a:t>⚠ Warning: 8 parameter(s) have ndc &lt; 5: DC_PWR_STATIC_VDD18I, DC_PWR_STATIC_AVDD18, DC_PWR_STATIC_AVEE_V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(22,61)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(22, 61)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R5 - %GRR=16.8%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%GRR=19.6%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(26,70)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(26, 70)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R2 - %GRR=13.3%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R4 - %GRR=17.8%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(28,53)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(28, 53)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R5 - %GRR=13.0%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R2 - %GRR=16.7%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(31,24)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(31, 24)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%GRR=18.0%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%GRR=22.1%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(33,33)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7.7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21.1%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(33, 33)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%GRR=17.6%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R4 - %GRR=21.1%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(41,24)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1.4%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(41, 24)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R3 - %GRR=12.9%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R5 - %GRR=16.8%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(48,50)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9.6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9.0%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(48, 50)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R4 - %GRR=12.9%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R1 - %GRR=15.6%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(56,58)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4.9%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388E3C"/>
                          </a:solidFill>
                        </a:defRPr>
                      </a:pPr>
                      <a:r>
                        <a:t>EXCELLENT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13.3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10.2%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10.4%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13.4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(56, 58)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%GRR=9.8%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%GRR=14.4%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(57,35)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9.7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14.1%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15.8%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0.6%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(57, 35)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R1 - %GRR=14.4%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R3 - %GRR=19.2%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- Die (57,45)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713232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645920"/>
                <a:gridCol w="640080"/>
                <a:gridCol w="777240"/>
                <a:gridCol w="640080"/>
                <a:gridCol w="868680"/>
                <a:gridCol w="8686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Region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Position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ndc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Repeat.%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Reprod.%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Result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44336"/>
                          </a:solidFill>
                        </a:defRPr>
                      </a:pPr>
                      <a:r>
                        <a:t>R1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(141,158)-&gt;(166,183)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17.9%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4CAF50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(329,286)-&gt;(354,311)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20.3%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6.8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19.5%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5.7%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196F3"/>
                          </a:solidFill>
                        </a:defRPr>
                      </a:pPr>
                      <a:r>
                        <a:t>R3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(212,400)-&gt;(237,425)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EB3B"/>
                          </a:solidFill>
                        </a:defRPr>
                      </a:pPr>
                      <a:r>
                        <a:t>R4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(342,502)-&gt;(367,527)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20.1%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6.9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19.7%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3.9%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9C27B0"/>
                          </a:solidFill>
                        </a:defRPr>
                      </a:pPr>
                      <a:r>
                        <a:t>R5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(460,484)-&gt;(485,509)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25x25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18.6%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7.5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16.7%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9800"/>
                          </a:solidFill>
                        </a:defRPr>
                      </a:pPr>
                      <a:r>
                        <a:t>ACCEPTABLE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Die (57, 45)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Pixels/Region: 625</a:t>
            </a:r>
          </a:p>
          <a:p>
            <a:pPr>
              <a:defRPr sz="8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R3 - %GRR=16.4%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R2 - %GRR=20.3%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176272"/>
            <a:ext cx="1179576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45720"/>
            <a:ext cx="1179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</a:defRPr>
            </a:pPr>
            <a:r>
              <a:t>PLM Pixel Analysis - Stitched Overview - Stitched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502920"/>
          <a:ext cx="8046720" cy="2414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531"/>
                <a:gridCol w="1149531"/>
                <a:gridCol w="1149531"/>
                <a:gridCol w="1149531"/>
                <a:gridCol w="1149531"/>
                <a:gridCol w="1149531"/>
                <a:gridCol w="1149534"/>
              </a:tblGrid>
              <a:tr h="219455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Die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R1 %GRR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R2 %GRR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R3 %GRR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R4 %GRR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R5 %GRR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FFFFFF"/>
                          </a:solidFill>
                        </a:defRPr>
                      </a:pPr>
                      <a:r>
                        <a:t>Avg %GRR</a:t>
                      </a:r>
                    </a:p>
                  </a:txBody>
                  <a:tcPr anchor="ctr">
                    <a:solidFill>
                      <a:srgbClr val="388E3C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(22,61)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(26,70)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17.8%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14.9%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(28,53)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(31,24)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22.1%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19.0%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20.5%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19.6%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(33,33)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17.6%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21.1%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(41,24)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15.5%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(48,50)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14.3%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(56,58)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388E3C"/>
                          </a:solidFill>
                        </a:defRPr>
                      </a:pPr>
                      <a:r>
                        <a:t>9.8%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10.5%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10.6%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10.4%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11.1%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21945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(57,35)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15.8%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19.2%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9465">
                <a:tc>
                  <a:txBody>
                    <a:bodyPr/>
                    <a:lstStyle/>
                    <a:p>
                      <a:pPr algn="ctr">
                        <a:defRPr sz="700"/>
                      </a:pPr>
                      <a:r>
                        <a:t>(57,45)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20.3%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16.4%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20.1%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solidFill>
                            <a:srgbClr val="FF9800"/>
                          </a:solidFill>
                        </a:defRPr>
                      </a:pPr>
                      <a:r>
                        <a:t>18.6%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/>
                      </a:pPr>
                      <a:r>
                        <a:t>18.7%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502920"/>
            <a:ext cx="3474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0000"/>
                </a:solidFill>
              </a:defRPr>
            </a:pPr>
            <a:r>
              <a:t>Stitched Die Comparison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PLM Type: Stitched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Total Dies: 10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Regions per Die: 5</a:t>
            </a:r>
          </a:p>
          <a:p>
            <a:pPr>
              <a:defRPr sz="1000" b="0">
                <a:solidFill>
                  <a:srgbClr val="505050"/>
                </a:solidFill>
              </a:defRPr>
            </a:pPr>
            <a:r>
              <a:t>Files/Trials: 3</a:t>
            </a:r>
          </a:p>
          <a:p>
            <a:pPr>
              <a:defRPr sz="600" b="0"/>
            </a:pPr>
          </a:p>
          <a:p>
            <a:pPr>
              <a:defRPr sz="1000" b="1">
                <a:solidFill>
                  <a:srgbClr val="388E3C"/>
                </a:solidFill>
              </a:defRPr>
            </a:pPr>
            <a:r>
              <a:t>Best:  Die(56,58) R1 - 9.8%</a:t>
            </a:r>
          </a:p>
          <a:p>
            <a:pPr>
              <a:defRPr sz="1000" b="1">
                <a:solidFill>
                  <a:srgbClr val="F44336"/>
                </a:solidFill>
              </a:defRPr>
            </a:pPr>
            <a:r>
              <a:t>Worst: Die(31,24) R3 - 22.1%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054095"/>
            <a:ext cx="11795760" cy="3200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