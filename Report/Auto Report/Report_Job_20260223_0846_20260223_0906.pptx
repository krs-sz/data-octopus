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Wafermap Analysis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08080"/>
                </a:solidFill>
              </a:defRPr>
            </a:pPr>
            <a:r>
              <a:t>Generated on 2026-02-23 09:06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</a:defRPr>
            </a:pPr>
            <a:r>
              <a:t>Gage R&amp;R Report - Agenda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914400"/>
          <a:ext cx="10911535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4114800"/>
                <a:gridCol w="1828800"/>
                <a:gridCol w="2286000"/>
                <a:gridCol w="2041855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Group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Parameters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Pages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Slides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📋 Agenda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Page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1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📖 Calculation Parameters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Page 3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2057399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565C0"/>
                </a:solidFill>
              </a:defRPr>
            </a:pPr>
            <a:r>
              <a:t>Total: 2 Groups | 0 Parameters | 2 Slides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r>
              <a:t>Gage R&amp;R - Calculation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94360"/>
            <a:ext cx="566928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00000"/>
                </a:solidFill>
              </a:defRPr>
            </a:pPr>
            <a:r>
              <a:t>BASIC STATISTICAL VALUES</a:t>
            </a:r>
          </a:p>
          <a:p>
            <a:pPr>
              <a:defRPr sz="6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Mean (Mittelwert):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Average of all measurements across all files and dies.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Mean = Σ(xi) / n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Std Dev (Standardabweichung):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Measure of dispersion around the mean.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σ = √[Σ(xi - Mean)² / n]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Range (Spannweite):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Difference between maximum and minimum.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Range = Max - Min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LSL / USL (Spec Limits):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Statistical limits (k = sigma factor).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LSL = Mean - kσ  |  USL = Mean + kσ</a:t>
            </a:r>
          </a:p>
          <a:p>
            <a:pPr>
              <a:defRPr sz="800" b="0"/>
            </a:pPr>
          </a:p>
          <a:p>
            <a:pPr>
              <a:defRPr sz="1300" b="1">
                <a:solidFill>
                  <a:srgbClr val="800000"/>
                </a:solidFill>
              </a:defRPr>
            </a:pPr>
            <a:r>
              <a:t>GAGE R&amp;R COMPONENTS</a:t>
            </a:r>
          </a:p>
          <a:p>
            <a:pPr>
              <a:defRPr sz="6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Repeatability (EV):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Variation within measurements of one file (equipment).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EV = Mean(σ within each file)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Reproducibility (AV):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Variation between files/operators/trials.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AV = σ(file means)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GRR Total: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Combined measurement system variation.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GRR = R̄ / d₂  (Range Method)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594360"/>
            <a:ext cx="566928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00000"/>
                </a:solidFill>
              </a:defRPr>
            </a:pPr>
            <a:r>
              <a:t>ASSESSMENT METRICS</a:t>
            </a:r>
          </a:p>
          <a:p>
            <a:pPr>
              <a:defRPr sz="6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%GRR (Prozent GRR):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GRR as percentage of total variation or tolerance.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%GRR = (GRR / TV) × 100  or  (GRR / Tolerance) × 100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ndc (Using Total Variation):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Number of distinct categories the system can distinguish.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ndc = 1.41 × (TV / GRR)</a:t>
            </a:r>
          </a:p>
          <a:p>
            <a:pPr>
              <a:defRPr sz="800" b="0"/>
            </a:pPr>
          </a:p>
          <a:p>
            <a:pPr>
              <a:defRPr sz="1300" b="1">
                <a:solidFill>
                  <a:srgbClr val="800000"/>
                </a:solidFill>
              </a:defRPr>
            </a:pPr>
            <a:r>
              <a:t>ASSESSMENT CRITERIA (AIAG MSA)</a:t>
            </a:r>
          </a:p>
          <a:p>
            <a:pPr>
              <a:defRPr sz="600" b="0"/>
            </a:pPr>
          </a:p>
          <a:p>
            <a:pPr>
              <a:defRPr sz="1100" b="1">
                <a:solidFill>
                  <a:srgbClr val="388E3C"/>
                </a:solidFill>
              </a:defRPr>
            </a:pPr>
            <a:r>
              <a:t>🟢 EXCELLENT:  %GRR &lt; 10%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Measurement system is acceptable.</a:t>
            </a:r>
          </a:p>
          <a:p>
            <a:pPr>
              <a:defRPr sz="400" b="0"/>
            </a:pPr>
          </a:p>
          <a:p>
            <a:pPr>
              <a:defRPr sz="1100" b="1">
                <a:solidFill>
                  <a:srgbClr val="FF9800"/>
                </a:solidFill>
              </a:defRPr>
            </a:pPr>
            <a:r>
              <a:t>🟡 ACCEPTABLE:  10% ≤ %GRR &lt; 30%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May be acceptable depending on application.</a:t>
            </a:r>
          </a:p>
          <a:p>
            <a:pPr>
              <a:defRPr sz="400" b="0"/>
            </a:pPr>
          </a:p>
          <a:p>
            <a:pPr>
              <a:defRPr sz="1100" b="1">
                <a:solidFill>
                  <a:srgbClr val="F44336"/>
                </a:solidFill>
              </a:defRPr>
            </a:pPr>
            <a:r>
              <a:t>🔴 UNACCEPTABLE:  %GRR ≥ 30%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Measurement system must be improved.</a:t>
            </a:r>
          </a:p>
          <a:p>
            <a:pPr>
              <a:defRPr sz="600" b="0"/>
            </a:pP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ndc ≥ 5:  Good measurement system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Can distinguish ≥ 5 distinct categories.</a:t>
            </a:r>
          </a:p>
          <a:p>
            <a:pPr>
              <a:defRPr sz="800" b="0"/>
            </a:pPr>
          </a:p>
          <a:p>
            <a:pPr>
              <a:defRPr sz="1300" b="1">
                <a:solidFill>
                  <a:srgbClr val="800000"/>
                </a:solidFill>
              </a:defRPr>
            </a:pPr>
            <a:r>
              <a:t>INTERPRETATION</a:t>
            </a:r>
          </a:p>
          <a:p>
            <a:pPr>
              <a:defRPr sz="600" b="0"/>
            </a:pPr>
          </a:p>
          <a:p>
            <a:pPr>
              <a:defRPr sz="900" b="0">
                <a:solidFill>
                  <a:srgbClr val="323232"/>
                </a:solidFill>
              </a:defRPr>
            </a:pPr>
            <a:r>
              <a:t>• High Repeatability → Equipment/method problem</a:t>
            </a:r>
          </a:p>
          <a:p>
            <a:pPr>
              <a:defRPr sz="900" b="0">
                <a:solidFill>
                  <a:srgbClr val="323232"/>
                </a:solidFill>
              </a:defRPr>
            </a:pPr>
            <a:r>
              <a:t>• High Reproducibility → Operator/process/time problem</a:t>
            </a:r>
          </a:p>
          <a:p>
            <a:pPr>
              <a:defRPr sz="900" b="0">
                <a:solidFill>
                  <a:srgbClr val="323232"/>
                </a:solidFill>
              </a:defRPr>
            </a:pPr>
            <a:r>
              <a:t>• ndc should be ≥ 5 for a good measurement system</a:t>
            </a:r>
          </a:p>
          <a:p>
            <a:pPr>
              <a:defRPr sz="900" b="0">
                <a:solidFill>
                  <a:srgbClr val="323232"/>
                </a:solidFill>
              </a:defRPr>
            </a:pPr>
            <a:r>
              <a:t>• Values outside LSL/USL indicate outliers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