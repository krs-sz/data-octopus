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Wafermap Analysis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08080"/>
                </a:solidFill>
              </a:defRPr>
            </a:pPr>
            <a:r>
              <a:t>Generated on 2026-02-23 10:45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</a:defRPr>
            </a:pPr>
            <a:r>
              <a:t>Gage R&amp;R Report - Agenda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914400"/>
          <a:ext cx="10911535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4114800"/>
                <a:gridCol w="1828800"/>
                <a:gridCol w="2286000"/>
                <a:gridCol w="2041855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Group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Parameters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Pages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Slides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📋 Agenda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Page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📖 Calculation Parameters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Page 3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OPTIC_SPEC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Page 4-8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📍 Stitched - Pixel Position based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5 dies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Page 9-14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2697480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565C0"/>
                </a:solidFill>
              </a:defRPr>
            </a:pPr>
            <a:r>
              <a:t>Total: 4 Groups | 10 Parameters | 13 Slides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r>
              <a:t>Gage R&amp;R - Calculation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94360"/>
            <a:ext cx="566928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00000"/>
                </a:solidFill>
              </a:defRPr>
            </a:pPr>
            <a:r>
              <a:t>BASIC STATISTICAL VALUES</a:t>
            </a:r>
          </a:p>
          <a:p>
            <a:pPr>
              <a:defRPr sz="6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Mean (Mittelwert):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Average of all measurements across all files and dies.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Mean = Σ(xi) / n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Std Dev (Standardabweichung):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Measure of dispersion around the mean.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σ = √[Σ(xi - Mean)² / n]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Range (Spannweite):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Difference between maximum and minimum.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Range = Max - Min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LSL / USL (Spec Limits):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Statistical limits (k = sigma factor).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LSL = Mean - kσ  |  USL = Mean + kσ</a:t>
            </a:r>
          </a:p>
          <a:p>
            <a:pPr>
              <a:defRPr sz="800" b="0"/>
            </a:pPr>
          </a:p>
          <a:p>
            <a:pPr>
              <a:defRPr sz="1300" b="1">
                <a:solidFill>
                  <a:srgbClr val="800000"/>
                </a:solidFill>
              </a:defRPr>
            </a:pPr>
            <a:r>
              <a:t>GAGE R&amp;R COMPONENTS</a:t>
            </a:r>
          </a:p>
          <a:p>
            <a:pPr>
              <a:defRPr sz="6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Repeatability (EV):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Variation within measurements of one file (equipment).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EV = Mean(σ within each file)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Reproducibility (AV):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Variation between files/operators/trials.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AV = σ(file means)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GRR Total: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Combined measurement system variation.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GRR = R̄ / d₂  (Range Method)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594360"/>
            <a:ext cx="566928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00000"/>
                </a:solidFill>
              </a:defRPr>
            </a:pPr>
            <a:r>
              <a:t>ASSESSMENT METRICS</a:t>
            </a:r>
          </a:p>
          <a:p>
            <a:pPr>
              <a:defRPr sz="6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%GRR (Prozent GRR):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GRR as percentage of total variation or tolerance.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%GRR = (GRR / TV) × 100  or  (GRR / Tolerance) × 100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ndc (Using Total Variation):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Number of distinct categories the system can distinguish.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ndc = 1.41 × (TV / GRR)</a:t>
            </a:r>
          </a:p>
          <a:p>
            <a:pPr>
              <a:defRPr sz="800" b="0"/>
            </a:pPr>
          </a:p>
          <a:p>
            <a:pPr>
              <a:defRPr sz="1300" b="1">
                <a:solidFill>
                  <a:srgbClr val="800000"/>
                </a:solidFill>
              </a:defRPr>
            </a:pPr>
            <a:r>
              <a:t>ASSESSMENT CRITERIA (AIAG MSA)</a:t>
            </a:r>
          </a:p>
          <a:p>
            <a:pPr>
              <a:defRPr sz="600" b="0"/>
            </a:pPr>
          </a:p>
          <a:p>
            <a:pPr>
              <a:defRPr sz="1100" b="1">
                <a:solidFill>
                  <a:srgbClr val="388E3C"/>
                </a:solidFill>
              </a:defRPr>
            </a:pPr>
            <a:r>
              <a:t>🟢 EXCELLENT:  %GRR &lt; 10%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Measurement system is acceptable.</a:t>
            </a:r>
          </a:p>
          <a:p>
            <a:pPr>
              <a:defRPr sz="400" b="0"/>
            </a:pPr>
          </a:p>
          <a:p>
            <a:pPr>
              <a:defRPr sz="1100" b="1">
                <a:solidFill>
                  <a:srgbClr val="FF9800"/>
                </a:solidFill>
              </a:defRPr>
            </a:pPr>
            <a:r>
              <a:t>🟡 ACCEPTABLE:  10% ≤ %GRR &lt; 30%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May be acceptable depending on application.</a:t>
            </a:r>
          </a:p>
          <a:p>
            <a:pPr>
              <a:defRPr sz="400" b="0"/>
            </a:pPr>
          </a:p>
          <a:p>
            <a:pPr>
              <a:defRPr sz="1100" b="1">
                <a:solidFill>
                  <a:srgbClr val="F44336"/>
                </a:solidFill>
              </a:defRPr>
            </a:pPr>
            <a:r>
              <a:t>🔴 UNACCEPTABLE:  %GRR ≥ 30%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Measurement system must be improved.</a:t>
            </a:r>
          </a:p>
          <a:p>
            <a:pPr>
              <a:defRPr sz="600" b="0"/>
            </a:pP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ndc ≥ 5:  Good measurement system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Can distinguish ≥ 5 distinct categories.</a:t>
            </a:r>
          </a:p>
          <a:p>
            <a:pPr>
              <a:defRPr sz="800" b="0"/>
            </a:pPr>
          </a:p>
          <a:p>
            <a:pPr>
              <a:defRPr sz="1300" b="1">
                <a:solidFill>
                  <a:srgbClr val="800000"/>
                </a:solidFill>
              </a:defRPr>
            </a:pPr>
            <a:r>
              <a:t>INTERPRETATION</a:t>
            </a:r>
          </a:p>
          <a:p>
            <a:pPr>
              <a:defRPr sz="600" b="0"/>
            </a:pPr>
          </a:p>
          <a:p>
            <a:pPr>
              <a:defRPr sz="900" b="0">
                <a:solidFill>
                  <a:srgbClr val="323232"/>
                </a:solidFill>
              </a:defRPr>
            </a:pPr>
            <a:r>
              <a:t>• High Repeatability → Equipment/method problem</a:t>
            </a:r>
          </a:p>
          <a:p>
            <a:pPr>
              <a:defRPr sz="900" b="0">
                <a:solidFill>
                  <a:srgbClr val="323232"/>
                </a:solidFill>
              </a:defRPr>
            </a:pPr>
            <a:r>
              <a:t>• High Reproducibility → Operator/process/time problem</a:t>
            </a:r>
          </a:p>
          <a:p>
            <a:pPr>
              <a:defRPr sz="900" b="0">
                <a:solidFill>
                  <a:srgbClr val="323232"/>
                </a:solidFill>
              </a:defRPr>
            </a:pPr>
            <a:r>
              <a:t>• ndc should be ≥ 5 for a good measurement system</a:t>
            </a:r>
          </a:p>
          <a:p>
            <a:pPr>
              <a:defRPr sz="900" b="0">
                <a:solidFill>
                  <a:srgbClr val="323232"/>
                </a:solidFill>
              </a:defRPr>
            </a:pPr>
            <a:r>
              <a:t>• Values outside LSL/USL indicate outliers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Gage R&amp;R Study Overview - OPTIC_SPEC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0080"/>
            <a:ext cx="54864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64008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Study Configuration</a:t>
            </a:r>
          </a:p>
          <a:p>
            <a:pPr>
              <a:defRPr sz="1000"/>
            </a:pPr>
            <a:r>
              <a:t>• Files/Trials: 2   • Dies/Parts: 5   • Parameters: 11</a:t>
            </a:r>
          </a:p>
          <a:p>
            <a:br/>
            <a:pPr>
              <a:defRPr sz="1200" b="1"/>
            </a:pPr>
            <a:r>
              <a:t>Parameters Analyzed:</a:t>
            </a:r>
          </a:p>
          <a:p>
            <a:pPr>
              <a:defRPr sz="900">
                <a:latin typeface="Consolas"/>
              </a:defRPr>
            </a:pPr>
            <a:r>
              <a:t>  1. 12035000: TRO_DOMWLTH_CENTER_AVEE*-DACI*-DC*_</a:t>
            </a:r>
          </a:p>
          <a:p>
            <a:pPr>
              <a:defRPr sz="900">
                <a:latin typeface="Consolas"/>
              </a:defRPr>
            </a:pPr>
            <a:r>
              <a:t>  2. 12035001: TRO_PKWLTH_CENTER_AVEE*-DACI*-DC*_F</a:t>
            </a:r>
          </a:p>
          <a:p>
            <a:pPr>
              <a:defRPr sz="900">
                <a:latin typeface="Consolas"/>
              </a:defRPr>
            </a:pPr>
            <a:r>
              <a:t>  3. 12035002: TRO_CETLTH_CENTER_AVEE*-DACI*-DC*_F</a:t>
            </a:r>
          </a:p>
          <a:p>
            <a:pPr>
              <a:defRPr sz="900">
                <a:latin typeface="Consolas"/>
              </a:defRPr>
            </a:pPr>
            <a:r>
              <a:t>  4. 12036000: TRO_FWHM_CENTER_AVEE*-DACI*-DC*_FRE</a:t>
            </a:r>
          </a:p>
          <a:p>
            <a:pPr>
              <a:defRPr sz="900">
                <a:latin typeface="Consolas"/>
              </a:defRPr>
            </a:pPr>
            <a:r>
              <a:t>  5. 12035003: TRO_SIGNAL_CENTER_AVEE*-DACI*-DC*_F</a:t>
            </a:r>
          </a:p>
          <a:p>
            <a:pPr>
              <a:defRPr sz="900">
                <a:latin typeface="Consolas"/>
              </a:defRPr>
            </a:pPr>
            <a:r>
              <a:t>  6. 12035004: TRO_COLORX_CENTER_AVEE*-DACI*-DC*_F</a:t>
            </a:r>
          </a:p>
          <a:p>
            <a:pPr>
              <a:defRPr sz="900">
                <a:latin typeface="Consolas"/>
              </a:defRPr>
            </a:pPr>
            <a:r>
              <a:t>  7. 12035005: TRO_COLORY_CENTER_AVEE*-DACI*-DC*_F</a:t>
            </a:r>
          </a:p>
          <a:p>
            <a:pPr>
              <a:defRPr sz="900">
                <a:latin typeface="Consolas"/>
              </a:defRPr>
            </a:pPr>
            <a:r>
              <a:t>  8. 30015004: TRO_NDFILTER_CENTER_AVEE*-DACI*-DC*</a:t>
            </a:r>
          </a:p>
          <a:p>
            <a:pPr>
              <a:defRPr sz="900"/>
            </a:pPr>
            <a:r>
              <a:t>  ... +2 more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474720"/>
            <a:ext cx="11612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4336"/>
                </a:solidFill>
              </a:defRPr>
            </a:pPr>
            <a:r>
              <a:t>Overall Result: FAIL</a:t>
            </a:r>
          </a:p>
          <a:p>
            <a:pPr>
              <a:defRPr sz="1100"/>
            </a:pPr>
            <a:r>
              <a:t>✗ Gage R&amp;R FAILED for 2 parameter(s) due to excessive measurement variation (&gt;30%).</a:t>
            </a:r>
            <a:br/>
            <a:r>
              <a:t>   Failing parameters: OPTIC_SPECTRO_TESTTIME_TI, OPTIC_SPECTRO_FWHM_CENTER</a:t>
            </a:r>
            <a:br/>
            <a:r>
              <a:t>   Recommendation: Review measurement equipment, operator training, or test methodology.</a:t>
            </a:r>
          </a:p>
          <a:p>
            <a:br/>
            <a:pPr>
              <a:defRPr sz="1000">
                <a:solidFill>
                  <a:srgbClr val="646464"/>
                </a:solidFill>
              </a:defRPr>
            </a:pPr>
            <a:r>
              <a:t>Assessment: 6 Excellent | 2 Acceptable | 2 Unacceptable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Gage R&amp;R - Calculation Parameters (Formulas)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566928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8E3C"/>
                </a:solidFill>
              </a:defRPr>
            </a:pPr>
            <a:r>
              <a:t>BASIC STATISTICAL VALUES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Mean (Mittelwert):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Average of all measurements across all files and dies.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Mean = Σ(xi) / n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Std Dev (Standardabweichung):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Measure of dispersion around the mean.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σ = √[Σ(xi - Mean)² / n]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Range (Spannweite):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Difference between maximum and minimum.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Range = Max - Min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LSL / USL (Spec Limits):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Statistical limits (k = sigma factor).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LSL = Mean - kσ   |   USL = Mean + kσ</a:t>
            </a:r>
          </a:p>
          <a:p/>
          <a:p>
            <a:pPr>
              <a:defRPr sz="1300" b="1">
                <a:solidFill>
                  <a:srgbClr val="388E3C"/>
                </a:solidFill>
              </a:defRPr>
            </a:pPr>
            <a:r>
              <a:t>GAGE R&amp;R COMPONENTS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Repeatability (EV):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Variation within measurements of one file (equipment).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EV = Mean(σ within each file)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Reproducibility (AV):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Variation between files/operators/trials.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AV = σ(file means)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GRR Total: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Combined measurement system variation.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GRR = R̄ / d₂   (Range Method)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Part Variation (PV):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True variation between parts/dies.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PV = σ(part means)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Total Variation (TV):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Total observed variation.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TV = √(PV² + GRR²)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731520"/>
            <a:ext cx="566928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8E3C"/>
                </a:solidFill>
              </a:defRPr>
            </a:pPr>
            <a:r>
              <a:t>ASSESSMENT METRICS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%GRR (Prozent GRR):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GRR as percentage of total variation or tolerance.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%GRR = (GRR / TV) × 100   or   (GRR / Tolerance) × 100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ndc (Using Part Variation):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Number of distinct categories the system can distinguish.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ndc = 1.41 × (PV / GRR)</a:t>
            </a:r>
          </a:p>
          <a:p/>
          <a:p>
            <a:pPr>
              <a:defRPr sz="1300" b="1">
                <a:solidFill>
                  <a:srgbClr val="388E3C"/>
                </a:solidFill>
              </a:defRPr>
            </a:pPr>
            <a:r>
              <a:t>ASSESSMENT CRITERIA (AIAG MSA)</a:t>
            </a:r>
          </a:p>
          <a:p/>
          <a:p>
            <a:pPr>
              <a:defRPr sz="1000" b="1"/>
            </a:pPr>
            <a:r>
              <a:t>🟢 EXCELLENT:  %GRR &lt; 10%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Measurement system is acceptable.</a:t>
            </a:r>
          </a:p>
          <a:p/>
          <a:p>
            <a:pPr>
              <a:defRPr sz="1000" b="1"/>
            </a:pPr>
            <a:r>
              <a:t>🟡 ACCEPTABLE:  10% ≤ %GRR &lt; 30%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May be acceptable depending on application.</a:t>
            </a:r>
          </a:p>
          <a:p/>
          <a:p>
            <a:pPr>
              <a:defRPr sz="1000" b="1"/>
            </a:pPr>
            <a:r>
              <a:t>🔴 UNACCEPTABLE:  %GRR ≥ 30%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Measurement system must be improved.</a:t>
            </a:r>
          </a:p>
          <a:p/>
          <a:p>
            <a:pPr>
              <a:defRPr sz="1000" b="1"/>
            </a:pPr>
            <a:r>
              <a:t>ndc ≥ 5:  Good measurement system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Can distinguish ≥ 5 distinct categories.</a:t>
            </a:r>
          </a:p>
          <a:p/>
          <a:p>
            <a:pPr>
              <a:defRPr sz="1300" b="1">
                <a:solidFill>
                  <a:srgbClr val="388E3C"/>
                </a:solidFill>
              </a:defRPr>
            </a:pPr>
            <a:r>
              <a:t>INTERPRETATION</a:t>
            </a:r>
          </a:p>
          <a:p>
            <a:pPr>
              <a:defRPr sz="900"/>
            </a:pPr>
            <a:r>
              <a:t>• High Repeatability → Equipment/method problem</a:t>
            </a:r>
          </a:p>
          <a:p>
            <a:pPr>
              <a:defRPr sz="900"/>
            </a:pPr>
            <a:r>
              <a:t>• High Reproducibility → Operator/process/time problem</a:t>
            </a:r>
          </a:p>
          <a:p>
            <a:pPr>
              <a:defRPr sz="900"/>
            </a:pPr>
            <a:r>
              <a:t>• ndc should be ≥ 5 for a good measurement system</a:t>
            </a:r>
          </a:p>
          <a:p>
            <a:pPr>
              <a:defRPr sz="900"/>
            </a:pPr>
            <a:r>
              <a:t>• Values outside LSL/USL indicate outliers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Gage R&amp;R Analysis Summary - OPTIC_SPEC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858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Consolas"/>
              </a:defRPr>
            </a:pPr>
            <a:r>
              <a:t>Study Information:</a:t>
            </a:r>
            <a:br/>
            <a:r>
              <a:t>  • Files (Operators/Trials): 2</a:t>
            </a:r>
            <a:br/>
            <a:r>
              <a:t>  • Dies (Parts): 5</a:t>
            </a:r>
            <a:br/>
            <a:r>
              <a:t>  • Parameters Analyzed: 11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0"/>
            <a:ext cx="1161288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Gage R&amp;R - Variance Components - OPTIC_SPEC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85800"/>
            <a:ext cx="1161288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434840"/>
            <a:ext cx="116128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Interpretation:</a:t>
            </a:r>
          </a:p>
          <a:p>
            <a:pPr>
              <a:defRPr sz="1000"/>
            </a:pPr>
            <a:r>
              <a:t>• Repeatability (blue): Variation when same operator measures same part multiple times (equipment variation)</a:t>
            </a:r>
          </a:p>
          <a:p>
            <a:pPr>
              <a:defRPr sz="1000"/>
            </a:pPr>
            <a:r>
              <a:t>• Reproducibility (red): Variation between different operators/trials measuring same part (operator variation)</a:t>
            </a:r>
          </a:p>
          <a:p>
            <a:pPr>
              <a:defRPr sz="1000" i="1">
                <a:solidFill>
                  <a:srgbClr val="006496"/>
                </a:solidFill>
              </a:defRPr>
            </a:pPr>
            <a:r>
              <a:t>→ Analysis: Repeatability (11.3%) &gt; Reproducibility (9.7%). Equipment/method variation is dominant. Consider equipment calibration or method refinement.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Gage R&amp;R - %GRR and ndc - OPTIC_SPEC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85800"/>
            <a:ext cx="11612880" cy="3474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251959"/>
            <a:ext cx="116128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Acceptance Criteria &amp; Interpretation:</a:t>
            </a:r>
          </a:p>
          <a:p>
            <a:pPr>
              <a:defRPr sz="900">
                <a:solidFill>
                  <a:srgbClr val="4CAF50"/>
                </a:solidFill>
              </a:defRPr>
            </a:pPr>
            <a:r>
              <a:t>• %GRR &lt; 10%: EXCELLENT - Measurement system is excellent for this application</a:t>
            </a:r>
          </a:p>
          <a:p>
            <a:pPr>
              <a:defRPr sz="900">
                <a:solidFill>
                  <a:srgbClr val="FF9800"/>
                </a:solidFill>
              </a:defRPr>
            </a:pPr>
            <a:r>
              <a:t>• %GRR 10-30%: ACCEPTABLE - May be acceptable depending on application criticality</a:t>
            </a:r>
          </a:p>
          <a:p>
            <a:pPr>
              <a:defRPr sz="900">
                <a:solidFill>
                  <a:srgbClr val="F44336"/>
                </a:solidFill>
              </a:defRPr>
            </a:pPr>
            <a:r>
              <a:t>• %GRR &gt; 30%: UNACCEPTABLE - Measurement system needs improvement</a:t>
            </a:r>
          </a:p>
          <a:p>
            <a:br/>
            <a:pPr>
              <a:defRPr sz="900"/>
            </a:pPr>
            <a:r>
              <a:t>• ndc (Number of Distinct Categories): Indicates how many distinct categories the measurement can reliably distinguish. ndc ≥ 5 is recommended.</a:t>
            </a:r>
          </a:p>
          <a:p>
            <a:pPr>
              <a:defRPr sz="900">
                <a:solidFill>
                  <a:srgbClr val="FF9800"/>
                </a:solidFill>
              </a:defRPr>
            </a:pPr>
            <a:r>
              <a:t>⚠ Warning: 4 parameter(s) have ndc &lt; 5: OPTIC_SPECTRO_FWHM_C, OPTIC_SPECTRO_NDFILT, OPTIC_SPECTRO_EXPTIM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PLM Pixel Analysis - Stitched - Die (35,44)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02920"/>
          <a:ext cx="71323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645920"/>
                <a:gridCol w="640080"/>
                <a:gridCol w="777240"/>
                <a:gridCol w="640080"/>
                <a:gridCol w="868680"/>
                <a:gridCol w="868680"/>
                <a:gridCol w="109728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ndc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Repeat.%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Reprod.%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(193,330)-&gt;(218,355)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15.9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88E3C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4CAF50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(192,390)-&gt;(217,415)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9.3%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15.1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9.0%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2.1%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88E3C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196F3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(329,383)-&gt;(354,408)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14.9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88E3C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EB3B"/>
                          </a:solidFill>
                        </a:defRPr>
                      </a:pPr>
                      <a:r>
                        <a:t>R4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(197,446)-&gt;(222,471)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9.7%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14.5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9.4%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2.3%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88E3C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5029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Die (35, 44)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PLM Type: Stitched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Regions: 4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Files/Trials: 2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Pixels/Region: 625</a:t>
            </a:r>
          </a:p>
          <a:p>
            <a:pPr>
              <a:defRPr sz="800" b="0"/>
            </a:pPr>
          </a:p>
          <a:p>
            <a:pPr>
              <a:defRPr sz="1000" b="1">
                <a:solidFill>
                  <a:srgbClr val="388E3C"/>
                </a:solidFill>
              </a:defRPr>
            </a:pPr>
            <a:r>
              <a:t>Best:  R1 - %GRR=8.8%</a:t>
            </a:r>
          </a:p>
          <a:p>
            <a:pPr>
              <a:defRPr sz="1000" b="1">
                <a:solidFill>
                  <a:srgbClr val="F44336"/>
                </a:solidFill>
              </a:defRPr>
            </a:pPr>
            <a:r>
              <a:t>Worst: R4 - %GRR=9.7%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920240"/>
            <a:ext cx="117957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PLM Pixel Analysis - Stitched - Die (39,49)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02920"/>
          <a:ext cx="71323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645920"/>
                <a:gridCol w="640080"/>
                <a:gridCol w="777240"/>
                <a:gridCol w="640080"/>
                <a:gridCol w="868680"/>
                <a:gridCol w="868680"/>
                <a:gridCol w="109728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ndc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Repeat.%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Reprod.%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(193,330)-&gt;(218,355)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16.6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88E3C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4CAF50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(192,390)-&gt;(217,415)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8.7%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16.2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8.5%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1.9%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88E3C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196F3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(329,383)-&gt;(354,408)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15.5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88E3C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EB3B"/>
                          </a:solidFill>
                        </a:defRPr>
                      </a:pPr>
                      <a:r>
                        <a:t>R4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(197,446)-&gt;(222,471)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8.4%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16.8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8.0%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2.4%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88E3C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5029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Die (39, 49)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PLM Type: Stitched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Regions: 4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Files/Trials: 2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Pixels/Region: 625</a:t>
            </a:r>
          </a:p>
          <a:p>
            <a:pPr>
              <a:defRPr sz="800" b="0"/>
            </a:pPr>
          </a:p>
          <a:p>
            <a:pPr>
              <a:defRPr sz="1000" b="1">
                <a:solidFill>
                  <a:srgbClr val="388E3C"/>
                </a:solidFill>
              </a:defRPr>
            </a:pPr>
            <a:r>
              <a:t>Best:  R4 - %GRR=8.4%</a:t>
            </a:r>
          </a:p>
          <a:p>
            <a:pPr>
              <a:defRPr sz="1000" b="1">
                <a:solidFill>
                  <a:srgbClr val="F44336"/>
                </a:solidFill>
              </a:defRPr>
            </a:pPr>
            <a:r>
              <a:t>Worst: R3 - %GRR=9.0%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920240"/>
            <a:ext cx="117957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PLM Pixel Analysis - Stitched - Die (44,44)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02920"/>
          <a:ext cx="71323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645920"/>
                <a:gridCol w="640080"/>
                <a:gridCol w="777240"/>
                <a:gridCol w="640080"/>
                <a:gridCol w="868680"/>
                <a:gridCol w="868680"/>
                <a:gridCol w="109728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ndc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Repeat.%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Reprod.%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(193,330)-&gt;(218,355)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16.5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88E3C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4CAF50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(192,390)-&gt;(217,415)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9.5%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14.7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9.5%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0.4%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88E3C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196F3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(329,383)-&gt;(354,408)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15.4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88E3C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EB3B"/>
                          </a:solidFill>
                        </a:defRPr>
                      </a:pPr>
                      <a:r>
                        <a:t>R4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(197,446)-&gt;(222,471)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9.2%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15.2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9.2%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0.2%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88E3C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5029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Die (44, 44)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PLM Type: Stitched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Regions: 4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Files/Trials: 2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Pixels/Region: 625</a:t>
            </a:r>
          </a:p>
          <a:p>
            <a:pPr>
              <a:defRPr sz="800" b="0"/>
            </a:pPr>
          </a:p>
          <a:p>
            <a:pPr>
              <a:defRPr sz="1000" b="1">
                <a:solidFill>
                  <a:srgbClr val="388E3C"/>
                </a:solidFill>
              </a:defRPr>
            </a:pPr>
            <a:r>
              <a:t>Best:  R1 - %GRR=8.5%</a:t>
            </a:r>
          </a:p>
          <a:p>
            <a:pPr>
              <a:defRPr sz="1000" b="1">
                <a:solidFill>
                  <a:srgbClr val="F44336"/>
                </a:solidFill>
              </a:defRPr>
            </a:pPr>
            <a:r>
              <a:t>Worst: R2 - %GRR=9.5%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920240"/>
            <a:ext cx="117957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PLM Pixel Analysis - Stitched - Die (48,34)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02920"/>
          <a:ext cx="71323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645920"/>
                <a:gridCol w="640080"/>
                <a:gridCol w="777240"/>
                <a:gridCol w="640080"/>
                <a:gridCol w="868680"/>
                <a:gridCol w="868680"/>
                <a:gridCol w="109728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ndc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Repeat.%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Reprod.%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(193,330)-&gt;(218,355)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13.9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4CAF50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(192,390)-&gt;(217,415)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9.6%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14.6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9.6%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1.2%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88E3C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196F3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(329,383)-&gt;(354,408)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14.8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88E3C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EB3B"/>
                          </a:solidFill>
                        </a:defRPr>
                      </a:pPr>
                      <a:r>
                        <a:t>R4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(197,446)-&gt;(222,471)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9.4%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14.9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9.3%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1.1%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88E3C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5029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Die (48, 34)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PLM Type: Stitched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Regions: 4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Files/Trials: 2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Pixels/Region: 625</a:t>
            </a:r>
          </a:p>
          <a:p>
            <a:pPr>
              <a:defRPr sz="800" b="0"/>
            </a:pPr>
          </a:p>
          <a:p>
            <a:pPr>
              <a:defRPr sz="1000" b="1">
                <a:solidFill>
                  <a:srgbClr val="388E3C"/>
                </a:solidFill>
              </a:defRPr>
            </a:pPr>
            <a:r>
              <a:t>Best:  R4 - %GRR=9.4%</a:t>
            </a:r>
          </a:p>
          <a:p>
            <a:pPr>
              <a:defRPr sz="1000" b="1">
                <a:solidFill>
                  <a:srgbClr val="F44336"/>
                </a:solidFill>
              </a:defRPr>
            </a:pPr>
            <a:r>
              <a:t>Worst: R1 - %GRR=10.1%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920240"/>
            <a:ext cx="117957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PLM Pixel Analysis - Stitched - Die (48,50)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02920"/>
          <a:ext cx="71323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645920"/>
                <a:gridCol w="640080"/>
                <a:gridCol w="777240"/>
                <a:gridCol w="640080"/>
                <a:gridCol w="868680"/>
                <a:gridCol w="868680"/>
                <a:gridCol w="109728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ndc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Repeat.%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Reprod.%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(193,330)-&gt;(218,355)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15.5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88E3C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4CAF50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(192,390)-&gt;(217,415)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9.5%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14.8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9.4%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1.3%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88E3C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196F3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(329,383)-&gt;(354,408)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14.2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88E3C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EB3B"/>
                          </a:solidFill>
                        </a:defRPr>
                      </a:pPr>
                      <a:r>
                        <a:t>R4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(197,446)-&gt;(222,471)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9.4%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15.0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9.3%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0.7%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88E3C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5029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Die (48, 50)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PLM Type: Stitched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Regions: 4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Files/Trials: 2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Pixels/Region: 625</a:t>
            </a:r>
          </a:p>
          <a:p>
            <a:pPr>
              <a:defRPr sz="800" b="0"/>
            </a:pPr>
          </a:p>
          <a:p>
            <a:pPr>
              <a:defRPr sz="1000" b="1">
                <a:solidFill>
                  <a:srgbClr val="388E3C"/>
                </a:solidFill>
              </a:defRPr>
            </a:pPr>
            <a:r>
              <a:t>Best:  R1 - %GRR=9.1%</a:t>
            </a:r>
          </a:p>
          <a:p>
            <a:pPr>
              <a:defRPr sz="1000" b="1">
                <a:solidFill>
                  <a:srgbClr val="F44336"/>
                </a:solidFill>
              </a:defRPr>
            </a:pPr>
            <a:r>
              <a:t>Worst: R3 - %GRR=9.9%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920240"/>
            <a:ext cx="117957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45720"/>
            <a:ext cx="1179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PLM Pixel Analysis - Stitched Overview - Stitched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02920"/>
          <a:ext cx="804672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120"/>
                <a:gridCol w="1341120"/>
                <a:gridCol w="1341120"/>
                <a:gridCol w="1341120"/>
                <a:gridCol w="1341120"/>
                <a:gridCol w="1341120"/>
              </a:tblGrid>
              <a:tr h="219456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Die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R1 %GRR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R2 %GRR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R3 %GRR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R4 %GRR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Avg 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(35,44)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88E3C"/>
                          </a:solidFill>
                        </a:defRPr>
                      </a:pPr>
                      <a:r>
                        <a:t>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88E3C"/>
                          </a:solidFill>
                        </a:defRPr>
                      </a:pPr>
                      <a:r>
                        <a:t>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88E3C"/>
                          </a:solidFill>
                        </a:defRPr>
                      </a:pPr>
                      <a:r>
                        <a:t>9.4%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88E3C"/>
                          </a:solidFill>
                        </a:defRPr>
                      </a:pPr>
                      <a:r>
                        <a:t>9.7%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/>
                      </a:pPr>
                      <a:r>
                        <a:t>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(39,49)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88E3C"/>
                          </a:solidFill>
                        </a:defRPr>
                      </a:pPr>
                      <a:r>
                        <a:t>8.5%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88E3C"/>
                          </a:solidFill>
                        </a:defRPr>
                      </a:pPr>
                      <a:r>
                        <a:t>8.7%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88E3C"/>
                          </a:solidFill>
                        </a:defRPr>
                      </a:pPr>
                      <a:r>
                        <a:t>9.0%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88E3C"/>
                          </a:solidFill>
                        </a:defRPr>
                      </a:pPr>
                      <a:r>
                        <a:t>8.4%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/>
                      </a:pPr>
                      <a:r>
                        <a:t>8.6%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(44,44)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88E3C"/>
                          </a:solidFill>
                        </a:defRPr>
                      </a:pPr>
                      <a:r>
                        <a:t>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88E3C"/>
                          </a:solidFill>
                        </a:defRPr>
                      </a:pPr>
                      <a:r>
                        <a:t>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88E3C"/>
                          </a:solidFill>
                        </a:defRPr>
                      </a:pPr>
                      <a:r>
                        <a:t>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88E3C"/>
                          </a:solidFill>
                        </a:defRPr>
                      </a:pPr>
                      <a:r>
                        <a:t>9.2%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/>
                      </a:pPr>
                      <a:r>
                        <a:t>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(48,34)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10.1%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88E3C"/>
                          </a:solidFill>
                        </a:defRPr>
                      </a:pPr>
                      <a:r>
                        <a:t>9.6%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88E3C"/>
                          </a:solidFill>
                        </a:defRPr>
                      </a:pPr>
                      <a:r>
                        <a:t>9.5%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88E3C"/>
                          </a:solidFill>
                        </a:defRPr>
                      </a:pPr>
                      <a:r>
                        <a:t>9.4%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/>
                      </a:pPr>
                      <a:r>
                        <a:t>9.7%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(48,50)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88E3C"/>
                          </a:solidFill>
                        </a:defRPr>
                      </a:pPr>
                      <a:r>
                        <a:t>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88E3C"/>
                          </a:solidFill>
                        </a:defRPr>
                      </a:pPr>
                      <a:r>
                        <a:t>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88E3C"/>
                          </a:solidFill>
                        </a:defRPr>
                      </a:pPr>
                      <a:r>
                        <a:t>9.9%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88E3C"/>
                          </a:solidFill>
                        </a:defRPr>
                      </a:pPr>
                      <a:r>
                        <a:t>9.4%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/>
                      </a:pPr>
                      <a:r>
                        <a:t>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50292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Stitched Die Comparison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PLM Type: Stitched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Total Dies: 5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Regions per Die: 4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Files/Trials: 2</a:t>
            </a:r>
          </a:p>
          <a:p>
            <a:pPr>
              <a:defRPr sz="600" b="0"/>
            </a:pPr>
          </a:p>
          <a:p>
            <a:pPr>
              <a:defRPr sz="1000" b="1">
                <a:solidFill>
                  <a:srgbClr val="388E3C"/>
                </a:solidFill>
              </a:defRPr>
            </a:pPr>
            <a:r>
              <a:t>Best:  Die(39,49) R4 - 8.4%</a:t>
            </a:r>
          </a:p>
          <a:p>
            <a:pPr>
              <a:defRPr sz="1000" b="1">
                <a:solidFill>
                  <a:srgbClr val="F44336"/>
                </a:solidFill>
              </a:defRPr>
            </a:pPr>
            <a:r>
              <a:t>Worst: Die(48,34) R1 - 10.1%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956816"/>
            <a:ext cx="11795760" cy="3200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