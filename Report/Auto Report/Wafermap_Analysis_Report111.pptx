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Wafermap Analysis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08080"/>
                </a:solidFill>
              </a:defRPr>
            </a:pPr>
            <a:r>
              <a:t>Generated on 2026-02-26 14:24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Gage R&amp;R Report - Agenda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14400"/>
          <a:ext cx="10911535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4114800"/>
                <a:gridCol w="1828800"/>
                <a:gridCol w="2286000"/>
                <a:gridCol w="2041855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Group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Parameters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Pages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Slides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📋 Agenda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📖 Calculation Parameters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3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📍 Stitched - Pixel Position based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5 dies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4-9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2377440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565C0"/>
                </a:solidFill>
              </a:defRPr>
            </a:pPr>
            <a:r>
              <a:t>Total: 3 Groups | 0 Parameters | 8 Slides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Gage R&amp;R - Calculation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94360"/>
            <a:ext cx="566928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00000"/>
                </a:solidFill>
              </a:defRPr>
            </a:pPr>
            <a:r>
              <a:t>BASIC STATISTICAL VALUES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Mean (Mittelwert):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Average of all measurements across all files and dies.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Mean = Σ(xi) / n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Std Dev (Standardabweichung):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Measure of dispersion around the mean.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σ = √[Σ(xi - Mean)² / n]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Range (Spannweite):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Difference between maximum and minimum.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Range = Max - Min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LSL / USL (Spec Limits):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Statistical limits (k = sigma factor).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LSL = Mean - kσ  |  USL = Mean + kσ</a:t>
            </a:r>
          </a:p>
          <a:p>
            <a:pPr>
              <a:defRPr sz="800" b="0"/>
            </a:pPr>
          </a:p>
          <a:p>
            <a:pPr>
              <a:defRPr sz="1300" b="1">
                <a:solidFill>
                  <a:srgbClr val="800000"/>
                </a:solidFill>
              </a:defRPr>
            </a:pPr>
            <a:r>
              <a:t>GAGE R&amp;R COMPONENTS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Repeatability (EV):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Variation within measurements of one file (equipment).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EV = Mean(σ within each file)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Reproducibility (AV):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Variation between files/operators/trials.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AV = σ(file means)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GRR Total: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Combined measurement system variation.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GRR = R̄ / d₂  (Range Method)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594360"/>
            <a:ext cx="566928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00000"/>
                </a:solidFill>
              </a:defRPr>
            </a:pPr>
            <a:r>
              <a:t>ASSESSMENT METRICS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%GRR (Prozent GRR):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GRR as percentage of total variation or tolerance.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%GRR = (GRR / TV) × 100  or  (GRR / Tolerance) × 100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ndc (Using Total Variation):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Number of distinct categories the system can distinguish.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ndc = 1.41 × (TV / GRR)</a:t>
            </a:r>
          </a:p>
          <a:p>
            <a:pPr>
              <a:defRPr sz="800" b="0"/>
            </a:pPr>
          </a:p>
          <a:p>
            <a:pPr>
              <a:defRPr sz="1300" b="1">
                <a:solidFill>
                  <a:srgbClr val="800000"/>
                </a:solidFill>
              </a:defRPr>
            </a:pPr>
            <a:r>
              <a:t>ASSESSMENT CRITERIA (AIAG MSA)</a:t>
            </a:r>
          </a:p>
          <a:p>
            <a:pPr>
              <a:defRPr sz="600" b="0"/>
            </a:pPr>
          </a:p>
          <a:p>
            <a:pPr>
              <a:defRPr sz="1100" b="1">
                <a:solidFill>
                  <a:srgbClr val="388E3C"/>
                </a:solidFill>
              </a:defRPr>
            </a:pPr>
            <a:r>
              <a:t>🟢 EXCELLENT:  %GRR &lt; 10%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Measurement system is acceptable.</a:t>
            </a:r>
          </a:p>
          <a:p>
            <a:pPr>
              <a:defRPr sz="400" b="0"/>
            </a:pPr>
          </a:p>
          <a:p>
            <a:pPr>
              <a:defRPr sz="1100" b="1">
                <a:solidFill>
                  <a:srgbClr val="FF9800"/>
                </a:solidFill>
              </a:defRPr>
            </a:pPr>
            <a:r>
              <a:t>🟡 ACCEPTABLE:  10% ≤ %GRR &lt; 30%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May be acceptable depending on application.</a:t>
            </a:r>
          </a:p>
          <a:p>
            <a:pPr>
              <a:defRPr sz="400" b="0"/>
            </a:pPr>
          </a:p>
          <a:p>
            <a:pPr>
              <a:defRPr sz="1100" b="1">
                <a:solidFill>
                  <a:srgbClr val="F44336"/>
                </a:solidFill>
              </a:defRPr>
            </a:pPr>
            <a:r>
              <a:t>🔴 UNACCEPTABLE:  %GRR ≥ 30%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Measurement system must be improved.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ndc ≥ 5:  Good measurement system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Can distinguish ≥ 5 distinct categories.</a:t>
            </a:r>
          </a:p>
          <a:p>
            <a:pPr>
              <a:defRPr sz="800" b="0"/>
            </a:pPr>
          </a:p>
          <a:p>
            <a:pPr>
              <a:defRPr sz="1300" b="1">
                <a:solidFill>
                  <a:srgbClr val="800000"/>
                </a:solidFill>
              </a:defRPr>
            </a:pPr>
            <a:r>
              <a:t>INTERPRETATION</a:t>
            </a:r>
          </a:p>
          <a:p>
            <a:pPr>
              <a:defRPr sz="600" b="0"/>
            </a:pP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High Repeatability → Equipment/method problem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High Reproducibility → Operator/process/time problem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ndc should be ≥ 5 for a good measurement system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Values outside LSL/USL indicate outliers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(33,33)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(96,94)-&gt;(121,119)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24.0%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5.7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23.7%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(445,131)-&gt;(470,156)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23.6%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5.8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23.4%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3.4%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(264,267)-&gt;(289,292)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28.2%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28.1%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(131,431)-&gt;(156,456)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26.2%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5.2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25.2%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7.1%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9C27B0"/>
                          </a:solidFill>
                        </a:defRPr>
                      </a:pPr>
                      <a:r>
                        <a:t>R5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(313,488)-&gt;(338,513)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24.2%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5.7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23.7%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0BCD4"/>
                          </a:solidFill>
                        </a:defRPr>
                      </a:pPr>
                      <a:r>
                        <a:t>R6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(426,361)-&gt;(451,386)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21.2%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6.5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20.5%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5.5%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R7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(248,632)-&gt;(273,657)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23.7%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5.8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22.1%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(33, 33)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7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2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625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R6 - %GRR=21.2%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R3 - %GRR=28.2%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688336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(35,44)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(96,94)-&gt;(121,119)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18.0%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(445,131)-&gt;(470,156)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20.4%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6.8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16.7%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11.7%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(264,267)-&gt;(289,292)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16.8%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11.8%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11.9%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(131,431)-&gt;(156,456)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16.2%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13.2%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9.4%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9C27B0"/>
                          </a:solidFill>
                        </a:defRPr>
                      </a:pPr>
                      <a:r>
                        <a:t>R5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(313,488)-&gt;(338,513)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16.9%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0BCD4"/>
                          </a:solidFill>
                        </a:defRPr>
                      </a:pPr>
                      <a:r>
                        <a:t>R6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(426,361)-&gt;(451,386)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16.1%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12.0%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R7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(248,632)-&gt;(273,657)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18.8%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17.4%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(35, 44)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7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2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625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R6 - %GRR=16.1%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R2 - %GRR=20.4%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688336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(44,44)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(96,94)-&gt;(121,119)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15.3%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11.3%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(445,131)-&gt;(470,156)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15.7%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8.9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12.3%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9.6%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(264,267)-&gt;(289,292)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15.0%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11.1%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(131,431)-&gt;(156,456)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12.3%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8.1%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9C27B0"/>
                          </a:solidFill>
                        </a:defRPr>
                      </a:pPr>
                      <a:r>
                        <a:t>R5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(313,488)-&gt;(338,513)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13.0%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0BCD4"/>
                          </a:solidFill>
                        </a:defRPr>
                      </a:pPr>
                      <a:r>
                        <a:t>R6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(426,361)-&gt;(451,386)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12.3%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11.4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8.6%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8.8%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R7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(248,632)-&gt;(273,657)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15.1%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12.4%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(44, 44)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7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2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625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R6 - %GRR=12.3%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R2 - %GRR=15.7%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688336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(46,62)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(96,94)-&gt;(121,119)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21.2%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12.3%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(445,131)-&gt;(470,156)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21.1%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6.5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16.3%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13.3%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(264,267)-&gt;(289,292)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22.0%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19.6%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(131,431)-&gt;(156,456)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19.0%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16.5%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9.5%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9C27B0"/>
                          </a:solidFill>
                        </a:defRPr>
                      </a:pPr>
                      <a:r>
                        <a:t>R5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(313,488)-&gt;(338,513)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21.0%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16.1%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13.4%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0BCD4"/>
                          </a:solidFill>
                        </a:defRPr>
                      </a:pPr>
                      <a:r>
                        <a:t>R6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(426,361)-&gt;(451,386)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22.5%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6.1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19.0%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12.1%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R7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(248,632)-&gt;(273,657)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17.7%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(46, 62)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7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2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625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R4 - %GRR=19.0%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R6 - %GRR=22.5%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688336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(56,58)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(96,94)-&gt;(121,119)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12.6%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11.1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(445,131)-&gt;(470,156)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13.8%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10.6%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8.8%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(264,267)-&gt;(289,292)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16.5%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16.2%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(131,431)-&gt;(156,456)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14.6%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13.9%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4.4%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9C27B0"/>
                          </a:solidFill>
                        </a:defRPr>
                      </a:pPr>
                      <a:r>
                        <a:t>R5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(313,488)-&gt;(338,513)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15.7%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0BCD4"/>
                          </a:solidFill>
                        </a:defRPr>
                      </a:pPr>
                      <a:r>
                        <a:t>R6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(426,361)-&gt;(451,386)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15.4%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13.9%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6.5%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R7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(248,632)-&gt;(273,657)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13.9%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(56, 58)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7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2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625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R1 - %GRR=12.6%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R3 - %GRR=16.5%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688336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Overview - Stitched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804672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4080"/>
                <a:gridCol w="894080"/>
                <a:gridCol w="894080"/>
                <a:gridCol w="894080"/>
                <a:gridCol w="894080"/>
                <a:gridCol w="894080"/>
                <a:gridCol w="894080"/>
                <a:gridCol w="894080"/>
                <a:gridCol w="894080"/>
              </a:tblGrid>
              <a:tr h="219456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Die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R1 %GRR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R2 %GRR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R3 %GRR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R4 %GRR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R5 %GRR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R6 %GRR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R7 %GRR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Avg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(33,33)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24.0%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23.6%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28.2%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26.2%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24.2%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21.2%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23.7%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24.4%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(35,44)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18.0%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20.4%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16.8%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16.2%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16.9%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16.1%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18.8%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17.6%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(44,44)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14.4%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(46,62)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21.2%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21.1%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22.0%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19.0%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21.0%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22.5%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20.2%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21.0%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(56,58)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14.7%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Stitched Die Comparison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Total Dies: 5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 per Die: 7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2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Die(44,44) R6 - 12.3%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Die(33,33) R3 - 28.2%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56816"/>
            <a:ext cx="11795760" cy="3200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