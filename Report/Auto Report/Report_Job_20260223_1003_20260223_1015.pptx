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Wafermap Analysis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08080"/>
                </a:solidFill>
              </a:defRPr>
            </a:pPr>
            <a:r>
              <a:t>Generated on 2026-02-23 10:15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</a:defRPr>
            </a:pPr>
            <a:r>
              <a:t>Gage R&amp;R Report - Agenda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914400"/>
          <a:ext cx="10911535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4114800"/>
                <a:gridCol w="1828800"/>
                <a:gridCol w="2286000"/>
                <a:gridCol w="2041855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Group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Parameters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Pages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Slides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📋 Agenda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📖 Calculation Parameters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3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DC_SHORT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4-8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Dc_Debug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9-13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Dc_Pwr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14-18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3017519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565C0"/>
                </a:solidFill>
              </a:defRPr>
            </a:pPr>
            <a:r>
              <a:t>Total: 5 Groups | 16 Parameters | 17 Slides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Gage R&amp;R - Calculation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94360"/>
            <a:ext cx="566928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00000"/>
                </a:solidFill>
              </a:defRPr>
            </a:pPr>
            <a:r>
              <a:t>BASIC STATISTICAL VALUES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Mean (Mittelwert):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Average of all measurements across all files and dies.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Mean = Σ(xi) / n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Std Dev (Standardabweichung):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Measure of dispersion around the mean.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σ = √[Σ(xi - Mean)² / n]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Range (Spannweite):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Difference between maximum and minimum.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Range = Max - Min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LSL / USL (Spec Limits):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Statistical limits (k = sigma factor).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LSL = Mean - kσ  |  USL = Mean + kσ</a:t>
            </a:r>
          </a:p>
          <a:p>
            <a:pPr>
              <a:defRPr sz="800" b="0"/>
            </a:pPr>
          </a:p>
          <a:p>
            <a:pPr>
              <a:defRPr sz="1300" b="1">
                <a:solidFill>
                  <a:srgbClr val="800000"/>
                </a:solidFill>
              </a:defRPr>
            </a:pPr>
            <a:r>
              <a:t>GAGE R&amp;R COMPONENTS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Repeatability (EV):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Variation within measurements of one file (equipment).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EV = Mean(σ within each file)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Reproducibility (AV):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Variation between files/operators/trials.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AV = σ(file means)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GRR Total: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Combined measurement system variation.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GRR = R̄ / d₂  (Range Method)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594360"/>
            <a:ext cx="566928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00000"/>
                </a:solidFill>
              </a:defRPr>
            </a:pPr>
            <a:r>
              <a:t>ASSESSMENT METRICS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%GRR (Prozent GRR):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GRR as percentage of total variation or tolerance.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%GRR = (GRR / TV) × 100  or  (GRR / Tolerance) × 100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ndc (Using Total Variation):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Number of distinct categories the system can distinguish.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ndc = 1.41 × (TV / GRR)</a:t>
            </a:r>
          </a:p>
          <a:p>
            <a:pPr>
              <a:defRPr sz="800" b="0"/>
            </a:pPr>
          </a:p>
          <a:p>
            <a:pPr>
              <a:defRPr sz="1300" b="1">
                <a:solidFill>
                  <a:srgbClr val="800000"/>
                </a:solidFill>
              </a:defRPr>
            </a:pPr>
            <a:r>
              <a:t>ASSESSMENT CRITERIA (AIAG MSA)</a:t>
            </a:r>
          </a:p>
          <a:p>
            <a:pPr>
              <a:defRPr sz="600" b="0"/>
            </a:pPr>
          </a:p>
          <a:p>
            <a:pPr>
              <a:defRPr sz="1100" b="1">
                <a:solidFill>
                  <a:srgbClr val="388E3C"/>
                </a:solidFill>
              </a:defRPr>
            </a:pPr>
            <a:r>
              <a:t>🟢 EXCELLENT:  %GRR &lt; 10%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Measurement system is acceptable.</a:t>
            </a:r>
          </a:p>
          <a:p>
            <a:pPr>
              <a:defRPr sz="400" b="0"/>
            </a:pPr>
          </a:p>
          <a:p>
            <a:pPr>
              <a:defRPr sz="1100" b="1">
                <a:solidFill>
                  <a:srgbClr val="FF9800"/>
                </a:solidFill>
              </a:defRPr>
            </a:pPr>
            <a:r>
              <a:t>🟡 ACCEPTABLE:  10% ≤ %GRR &lt; 30%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May be acceptable depending on application.</a:t>
            </a:r>
          </a:p>
          <a:p>
            <a:pPr>
              <a:defRPr sz="400" b="0"/>
            </a:pPr>
          </a:p>
          <a:p>
            <a:pPr>
              <a:defRPr sz="1100" b="1">
                <a:solidFill>
                  <a:srgbClr val="F44336"/>
                </a:solidFill>
              </a:defRPr>
            </a:pPr>
            <a:r>
              <a:t>🔴 UNACCEPTABLE:  %GRR ≥ 30%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Measurement system must be improved.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ndc ≥ 5:  Good measurement system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Can distinguish ≥ 5 distinct categories.</a:t>
            </a:r>
          </a:p>
          <a:p>
            <a:pPr>
              <a:defRPr sz="800" b="0"/>
            </a:pPr>
          </a:p>
          <a:p>
            <a:pPr>
              <a:defRPr sz="1300" b="1">
                <a:solidFill>
                  <a:srgbClr val="800000"/>
                </a:solidFill>
              </a:defRPr>
            </a:pPr>
            <a:r>
              <a:t>INTERPRETATION</a:t>
            </a:r>
          </a:p>
          <a:p>
            <a:pPr>
              <a:defRPr sz="600" b="0"/>
            </a:pP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High Repeatability → Equipment/method problem</a:t>
            </a: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High Reproducibility → Operator/process/time problem</a:t>
            </a: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ndc should be ≥ 5 for a good measurement system</a:t>
            </a: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Values outside LSL/USL indicate outliers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Gage R&amp;R Study Overview - DC_SHORT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0080"/>
            <a:ext cx="54864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64008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Study Configuration</a:t>
            </a:r>
          </a:p>
          <a:p>
            <a:pPr>
              <a:defRPr sz="1000"/>
            </a:pPr>
            <a:r>
              <a:t>• Files/Trials: 3   • Dies/Parts: 5   • Parameters: 16</a:t>
            </a:r>
          </a:p>
          <a:p>
            <a:br/>
            <a:pPr>
              <a:defRPr sz="1200" b="1"/>
            </a:pPr>
            <a:r>
              <a:t>Parameters Analyzed:</a:t>
            </a:r>
          </a:p>
          <a:p>
            <a:pPr>
              <a:defRPr sz="900">
                <a:latin typeface="Consolas"/>
              </a:defRPr>
            </a:pPr>
            <a:r>
              <a:t>  1. 10020001: LOW_VDD10_FV0P1_X VDD10 22.g404hc &lt;</a:t>
            </a:r>
          </a:p>
          <a:p>
            <a:pPr>
              <a:defRPr sz="900">
                <a:latin typeface="Consolas"/>
              </a:defRPr>
            </a:pPr>
            <a:r>
              <a:t>  2. 10020002: LOW_VDD18IO_FV0P1_X VDD18IO 22.a402</a:t>
            </a:r>
          </a:p>
          <a:p>
            <a:pPr>
              <a:defRPr sz="900">
                <a:latin typeface="Consolas"/>
              </a:defRPr>
            </a:pPr>
            <a:r>
              <a:t>  3. 10020003: LOW_AVDD18_FV0P1_X AVDD18 22.c403 &lt;</a:t>
            </a:r>
          </a:p>
          <a:p>
            <a:pPr>
              <a:defRPr sz="900">
                <a:latin typeface="Consolas"/>
              </a:defRPr>
            </a:pPr>
            <a:r>
              <a:t>  4. 10020004: LOW_VQPSEFUSE_FV0P1_X VQPS_EFUSE 22</a:t>
            </a:r>
          </a:p>
          <a:p>
            <a:pPr>
              <a:defRPr sz="900">
                <a:latin typeface="Consolas"/>
              </a:defRPr>
            </a:pPr>
            <a:r>
              <a:t>  5. 10020005: LOW_AVEE_FV0P1_X AVEE 20.w402 &lt;&gt; DC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47472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4336"/>
                </a:solidFill>
              </a:defRPr>
            </a:pPr>
            <a:r>
              <a:t>Overall Result: FAIL</a:t>
            </a:r>
          </a:p>
          <a:p>
            <a:pPr>
              <a:defRPr sz="1100"/>
            </a:pPr>
            <a:r>
              <a:t>✗ Gage R&amp;R FAILED for 5 parameter(s) due to excessive measurement variation (&gt;30%).</a:t>
            </a:r>
            <a:br/>
            <a:r>
              <a:t>   Failing parameters: DC_SHORT_LOW_VQPSEFUSE_FV, DC_SHORT_LOW_VDD10_FV0P1_, DC_SHORT_LOW_AVDD18_FV0P1 (+2 more)</a:t>
            </a:r>
            <a:br/>
            <a:r>
              <a:t>   Recommendation: Review measurement equipment, operator training, or test methodology.</a:t>
            </a:r>
          </a:p>
          <a:p>
            <a:br/>
            <a:pPr>
              <a:defRPr sz="1000">
                <a:solidFill>
                  <a:srgbClr val="646464"/>
                </a:solidFill>
              </a:defRPr>
            </a:pPr>
            <a:r>
              <a:t>Assessment: 0 Excellent | 0 Acceptable | 5 Unacceptable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Gage R&amp;R - Calculation Parameters (Formulas)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566928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8E3C"/>
                </a:solidFill>
              </a:defRPr>
            </a:pPr>
            <a:r>
              <a:t>BASIC STATISTICAL VALUES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Mean (Mittelwert):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Average of all measurements across all files and dies.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Mean = Σ(xi) / n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Std Dev (Standardabweichung):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Measure of dispersion around the mean.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σ = √[Σ(xi - Mean)² / n]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Range (Spannweite):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Difference between maximum and minimum.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Range = Max - Min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LSL / USL (Spec Limits):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Statistical limits (k = sigma factor).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LSL = Mean - kσ   |   USL = Mean + kσ</a:t>
            </a:r>
          </a:p>
          <a:p/>
          <a:p>
            <a:pPr>
              <a:defRPr sz="1300" b="1">
                <a:solidFill>
                  <a:srgbClr val="388E3C"/>
                </a:solidFill>
              </a:defRPr>
            </a:pPr>
            <a:r>
              <a:t>GAGE R&amp;R COMPONENTS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Repeatability (EV):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Variation within measurements of one file (equipment).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EV = Mean(σ within each file)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Reproducibility (AV):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Variation between files/operators/trials.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AV = σ(file means)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GRR Total: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Combined measurement system variation.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GRR = R̄ / d₂   (Range Method)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Part Variation (PV):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True variation between parts/dies.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PV = σ(part means)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Total Variation (TV):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Total observed variation.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TV = √(PV² + GRR²)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731520"/>
            <a:ext cx="566928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8E3C"/>
                </a:solidFill>
              </a:defRPr>
            </a:pPr>
            <a:r>
              <a:t>ASSESSMENT METRICS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%GRR (Prozent GRR):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GRR as percentage of total variation or tolerance.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%GRR = (GRR / TV) × 100   or   (GRR / Tolerance) × 100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ndc (Using Part Variation):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Number of distinct categories the system can distinguish.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ndc = 1.41 × (PV / GRR)</a:t>
            </a:r>
          </a:p>
          <a:p/>
          <a:p>
            <a:pPr>
              <a:defRPr sz="1300" b="1">
                <a:solidFill>
                  <a:srgbClr val="388E3C"/>
                </a:solidFill>
              </a:defRPr>
            </a:pPr>
            <a:r>
              <a:t>ASSESSMENT CRITERIA (AIAG MSA)</a:t>
            </a:r>
          </a:p>
          <a:p/>
          <a:p>
            <a:pPr>
              <a:defRPr sz="1000" b="1"/>
            </a:pPr>
            <a:r>
              <a:t>🟢 EXCELLENT:  %GRR &lt; 10%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Measurement system is acceptable.</a:t>
            </a:r>
          </a:p>
          <a:p/>
          <a:p>
            <a:pPr>
              <a:defRPr sz="1000" b="1"/>
            </a:pPr>
            <a:r>
              <a:t>🟡 ACCEPTABLE:  10% ≤ %GRR &lt; 30%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May be acceptable depending on application.</a:t>
            </a:r>
          </a:p>
          <a:p/>
          <a:p>
            <a:pPr>
              <a:defRPr sz="1000" b="1"/>
            </a:pPr>
            <a:r>
              <a:t>🔴 UNACCEPTABLE:  %GRR ≥ 30%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Measurement system must be improved.</a:t>
            </a:r>
          </a:p>
          <a:p/>
          <a:p>
            <a:pPr>
              <a:defRPr sz="1000" b="1"/>
            </a:pPr>
            <a:r>
              <a:t>ndc ≥ 5:  Good measurement system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Can distinguish ≥ 5 distinct categories.</a:t>
            </a:r>
          </a:p>
          <a:p/>
          <a:p>
            <a:pPr>
              <a:defRPr sz="1300" b="1">
                <a:solidFill>
                  <a:srgbClr val="388E3C"/>
                </a:solidFill>
              </a:defRPr>
            </a:pPr>
            <a:r>
              <a:t>INTERPRETATION</a:t>
            </a:r>
          </a:p>
          <a:p>
            <a:pPr>
              <a:defRPr sz="900"/>
            </a:pPr>
            <a:r>
              <a:t>• High Repeatability → Equipment/method problem</a:t>
            </a:r>
          </a:p>
          <a:p>
            <a:pPr>
              <a:defRPr sz="900"/>
            </a:pPr>
            <a:r>
              <a:t>• High Reproducibility → Operator/process/time problem</a:t>
            </a:r>
          </a:p>
          <a:p>
            <a:pPr>
              <a:defRPr sz="900"/>
            </a:pPr>
            <a:r>
              <a:t>• ndc should be ≥ 5 for a good measurement system</a:t>
            </a:r>
          </a:p>
          <a:p>
            <a:pPr>
              <a:defRPr sz="900"/>
            </a:pPr>
            <a:r>
              <a:t>• Values outside LSL/USL indicate outliers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Gage R&amp;R Analysis Summary - DC_SHORT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858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nsolas"/>
              </a:defRPr>
            </a:pPr>
            <a:r>
              <a:t>Study Information:</a:t>
            </a:r>
            <a:br/>
            <a:r>
              <a:t>  • Files (Operators/Trials): 3</a:t>
            </a:r>
            <a:br/>
            <a:r>
              <a:t>  • Dies (Parts): 5</a:t>
            </a:r>
            <a:br/>
            <a:r>
              <a:t>  • Parameters Analyzed: 16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0"/>
            <a:ext cx="1161288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Gage R&amp;R - Variance Components - DC_SHORT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1161288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434840"/>
            <a:ext cx="116128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Interpretation:</a:t>
            </a:r>
          </a:p>
          <a:p>
            <a:pPr>
              <a:defRPr sz="1000"/>
            </a:pPr>
            <a:r>
              <a:t>• Repeatability (blue): Variation when same operator measures same part multiple times (equipment variation)</a:t>
            </a:r>
          </a:p>
          <a:p>
            <a:pPr>
              <a:defRPr sz="1000"/>
            </a:pPr>
            <a:r>
              <a:t>• Reproducibility (red): Variation between different operators/trials measuring same part (operator variation)</a:t>
            </a:r>
          </a:p>
          <a:p>
            <a:pPr>
              <a:defRPr sz="1000" i="1">
                <a:solidFill>
                  <a:srgbClr val="006496"/>
                </a:solidFill>
              </a:defRPr>
            </a:pPr>
            <a:r>
              <a:t>→ Analysis: Repeatability (63.4%) &gt; Reproducibility (45.1%). Equipment/method variation is dominant. Consider equipment calibration or method refinement.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Gage R&amp;R - %GRR and ndc - DC_SHORT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11612880" cy="3474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251959"/>
            <a:ext cx="116128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Acceptance Criteria &amp; Interpretation:</a:t>
            </a:r>
          </a:p>
          <a:p>
            <a:pPr>
              <a:defRPr sz="900">
                <a:solidFill>
                  <a:srgbClr val="4CAF50"/>
                </a:solidFill>
              </a:defRPr>
            </a:pPr>
            <a:r>
              <a:t>• %GRR &lt; 10%: EXCELLENT - Measurement system is excellent for this application</a:t>
            </a:r>
          </a:p>
          <a:p>
            <a:pPr>
              <a:defRPr sz="900">
                <a:solidFill>
                  <a:srgbClr val="FF9800"/>
                </a:solidFill>
              </a:defRPr>
            </a:pPr>
            <a:r>
              <a:t>• %GRR 10-30%: ACCEPTABLE - May be acceptable depending on application criticality</a:t>
            </a:r>
          </a:p>
          <a:p>
            <a:pPr>
              <a:defRPr sz="900">
                <a:solidFill>
                  <a:srgbClr val="F44336"/>
                </a:solidFill>
              </a:defRPr>
            </a:pPr>
            <a:r>
              <a:t>• %GRR &gt; 30%: UNACCEPTABLE - Measurement system needs improvement</a:t>
            </a:r>
          </a:p>
          <a:p>
            <a:br/>
            <a:pPr>
              <a:defRPr sz="900"/>
            </a:pPr>
            <a:r>
              <a:t>• ndc (Number of Distinct Categories): Indicates how many distinct categories the measurement can reliably distinguish. ndc ≥ 5 is recommended.</a:t>
            </a:r>
          </a:p>
          <a:p>
            <a:pPr>
              <a:defRPr sz="900">
                <a:solidFill>
                  <a:srgbClr val="FF9800"/>
                </a:solidFill>
              </a:defRPr>
            </a:pPr>
            <a:r>
              <a:t>⚠ Warning: 5 parameter(s) have ndc &lt; 5: DC_SHORT_LOW_VDD10_F, DC_SHORT_LOW_VDD18IO, DC_SHORT_LOW_AVDD18_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Gage R&amp;R Study Overview - Dc_Debug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0080"/>
            <a:ext cx="54864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64008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Study Configuration</a:t>
            </a:r>
          </a:p>
          <a:p>
            <a:pPr>
              <a:defRPr sz="1000"/>
            </a:pPr>
            <a:r>
              <a:t>• Files/Trials: 3   • Dies/Parts: 5   • Parameters: 16</a:t>
            </a:r>
          </a:p>
          <a:p>
            <a:br/>
            <a:pPr>
              <a:defRPr sz="1200" b="1"/>
            </a:pPr>
            <a:r>
              <a:t>Parameters Analyzed:</a:t>
            </a:r>
          </a:p>
          <a:p>
            <a:pPr>
              <a:defRPr sz="900">
                <a:latin typeface="Consolas"/>
              </a:defRPr>
            </a:pPr>
            <a:r>
              <a:t>  1. 30025001: TESTTIME_TIMESTAMP_X  -1 &lt;&gt; DC_DEBU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47472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4336"/>
                </a:solidFill>
              </a:defRPr>
            </a:pPr>
            <a:r>
              <a:t>Overall Result: FAIL</a:t>
            </a:r>
          </a:p>
          <a:p>
            <a:pPr>
              <a:defRPr sz="1100"/>
            </a:pPr>
            <a:r>
              <a:t>✗ Gage R&amp;R FAILED for 1 parameter(s) due to excessive measurement variation (&gt;30%).</a:t>
            </a:r>
            <a:br/>
            <a:r>
              <a:t>   Failing parameters: DC_DEBUG_TESTTIME_TIMESTA</a:t>
            </a:r>
            <a:br/>
            <a:r>
              <a:t>   Recommendation: Review measurement equipment, operator training, or test methodology.</a:t>
            </a:r>
          </a:p>
          <a:p>
            <a:br/>
            <a:pPr>
              <a:defRPr sz="1000">
                <a:solidFill>
                  <a:srgbClr val="646464"/>
                </a:solidFill>
              </a:defRPr>
            </a:pPr>
            <a:r>
              <a:t>Assessment: 0 Excellent | 0 Acceptable | 1 Unacceptable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Gage R&amp;R Analysis Summary - Dc_Debug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858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nsolas"/>
              </a:defRPr>
            </a:pPr>
            <a:r>
              <a:t>Study Information:</a:t>
            </a:r>
            <a:br/>
            <a:r>
              <a:t>  • Files (Operators/Trials): 3</a:t>
            </a:r>
            <a:br/>
            <a:r>
              <a:t>  • Dies (Parts): 5</a:t>
            </a:r>
            <a:br/>
            <a:r>
              <a:t>  • Parameters Analyzed: 16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0"/>
            <a:ext cx="1161288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Gage R&amp;R - Variance Components - Dc_Debug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1161288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434840"/>
            <a:ext cx="116128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Interpretation:</a:t>
            </a:r>
          </a:p>
          <a:p>
            <a:pPr>
              <a:defRPr sz="1000"/>
            </a:pPr>
            <a:r>
              <a:t>• Repeatability (blue): Variation when same operator measures same part multiple times (equipment variation)</a:t>
            </a:r>
          </a:p>
          <a:p>
            <a:pPr>
              <a:defRPr sz="1000"/>
            </a:pPr>
            <a:r>
              <a:t>• Reproducibility (red): Variation between different operators/trials measuring same part (operator variation)</a:t>
            </a:r>
          </a:p>
          <a:p>
            <a:pPr>
              <a:defRPr sz="1000" i="1">
                <a:solidFill>
                  <a:srgbClr val="006496"/>
                </a:solidFill>
              </a:defRPr>
            </a:pPr>
            <a:r>
              <a:t>→ Analysis: Repeatability (92.5%) &gt; Reproducibility (27.5%). Equipment/method variation is dominant. Consider equipment calibration or method refinement.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Gage R&amp;R - %GRR and ndc - Dc_Debug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11612880" cy="3474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251959"/>
            <a:ext cx="116128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Acceptance Criteria &amp; Interpretation:</a:t>
            </a:r>
          </a:p>
          <a:p>
            <a:pPr>
              <a:defRPr sz="900">
                <a:solidFill>
                  <a:srgbClr val="4CAF50"/>
                </a:solidFill>
              </a:defRPr>
            </a:pPr>
            <a:r>
              <a:t>• %GRR &lt; 10%: EXCELLENT - Measurement system is excellent for this application</a:t>
            </a:r>
          </a:p>
          <a:p>
            <a:pPr>
              <a:defRPr sz="900">
                <a:solidFill>
                  <a:srgbClr val="FF9800"/>
                </a:solidFill>
              </a:defRPr>
            </a:pPr>
            <a:r>
              <a:t>• %GRR 10-30%: ACCEPTABLE - May be acceptable depending on application criticality</a:t>
            </a:r>
          </a:p>
          <a:p>
            <a:pPr>
              <a:defRPr sz="900">
                <a:solidFill>
                  <a:srgbClr val="F44336"/>
                </a:solidFill>
              </a:defRPr>
            </a:pPr>
            <a:r>
              <a:t>• %GRR &gt; 30%: UNACCEPTABLE - Measurement system needs improvement</a:t>
            </a:r>
          </a:p>
          <a:p>
            <a:br/>
            <a:pPr>
              <a:defRPr sz="900"/>
            </a:pPr>
            <a:r>
              <a:t>• ndc (Number of Distinct Categories): Indicates how many distinct categories the measurement can reliably distinguish. ndc ≥ 5 is recommended.</a:t>
            </a:r>
          </a:p>
          <a:p>
            <a:pPr>
              <a:defRPr sz="900">
                <a:solidFill>
                  <a:srgbClr val="FF9800"/>
                </a:solidFill>
              </a:defRPr>
            </a:pPr>
            <a:r>
              <a:t>⚠ Warning: 1 parameter(s) have ndc &lt; 5: DC_DEBUG_TESTTIME_TI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Gage R&amp;R Study Overview - Dc_Pwr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0080"/>
            <a:ext cx="54864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64008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Study Configuration</a:t>
            </a:r>
          </a:p>
          <a:p>
            <a:pPr>
              <a:defRPr sz="1000"/>
            </a:pPr>
            <a:r>
              <a:t>• Files/Trials: 3   • Dies/Parts: 5   • Parameters: 16</a:t>
            </a:r>
          </a:p>
          <a:p>
            <a:br/>
            <a:pPr>
              <a:defRPr sz="1200" b="1"/>
            </a:pPr>
            <a:r>
              <a:t>Parameters Analyzed:</a:t>
            </a:r>
          </a:p>
          <a:p>
            <a:pPr>
              <a:defRPr sz="900">
                <a:latin typeface="Consolas"/>
              </a:defRPr>
            </a:pPr>
            <a:r>
              <a:t>  1. 11405006: STATIC_VDD10_VNOM_X VDD10 22.g404hc</a:t>
            </a:r>
          </a:p>
          <a:p>
            <a:pPr>
              <a:defRPr sz="900">
                <a:latin typeface="Consolas"/>
              </a:defRPr>
            </a:pPr>
            <a:r>
              <a:t>  2. 11405007: STATIC_VDD18IO_VNOM_X VDD18IO 22.a4</a:t>
            </a:r>
          </a:p>
          <a:p>
            <a:pPr>
              <a:defRPr sz="900">
                <a:latin typeface="Consolas"/>
              </a:defRPr>
            </a:pPr>
            <a:r>
              <a:t>  3. 11405008: STATIC_AVDD18_VNOM_X AVDD18 22.c403</a:t>
            </a:r>
          </a:p>
          <a:p>
            <a:pPr>
              <a:defRPr sz="900">
                <a:latin typeface="Consolas"/>
              </a:defRPr>
            </a:pPr>
            <a:r>
              <a:t>  4. 11405009: STATIC_AVEE_VNOM_X AVEE 20.w402 &lt;&gt; </a:t>
            </a:r>
          </a:p>
          <a:p>
            <a:pPr>
              <a:defRPr sz="900">
                <a:latin typeface="Consolas"/>
              </a:defRPr>
            </a:pPr>
            <a:r>
              <a:t>  5. 11405010: STATIC_TotalPower_VNOM_X TotalPower</a:t>
            </a:r>
          </a:p>
          <a:p>
            <a:pPr>
              <a:defRPr sz="900">
                <a:latin typeface="Consolas"/>
              </a:defRPr>
            </a:pPr>
            <a:r>
              <a:t>  6. 11405011: STATIC_VDD10_VMIN_X VDD10 22.g404hc</a:t>
            </a:r>
          </a:p>
          <a:p>
            <a:pPr>
              <a:defRPr sz="900">
                <a:latin typeface="Consolas"/>
              </a:defRPr>
            </a:pPr>
            <a:r>
              <a:t>  7. 11405012: STATIC_VDD18IO_VMIN_X VDD18IO 22.a4</a:t>
            </a:r>
          </a:p>
          <a:p>
            <a:pPr>
              <a:defRPr sz="900">
                <a:latin typeface="Consolas"/>
              </a:defRPr>
            </a:pPr>
            <a:r>
              <a:t>  8. 11405013: STATIC_AVDD18_VMIN_X AVDD18 22.c403</a:t>
            </a:r>
          </a:p>
          <a:p>
            <a:pPr>
              <a:defRPr sz="900"/>
            </a:pPr>
            <a:r>
              <a:t>  ... +2 more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47472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4336"/>
                </a:solidFill>
              </a:defRPr>
            </a:pPr>
            <a:r>
              <a:t>Overall Result: FAIL</a:t>
            </a:r>
          </a:p>
          <a:p>
            <a:pPr>
              <a:defRPr sz="1100"/>
            </a:pPr>
            <a:r>
              <a:t>✗ Gage R&amp;R FAILED for 6 parameter(s) due to excessive measurement variation (&gt;30%).</a:t>
            </a:r>
            <a:br/>
            <a:r>
              <a:t>   Failing parameters: DC_PWR_STATIC_AVEE_VMIN_X, DC_PWR_STATIC_AVDD18_VMIN, DC_PWR_STATIC_AVDD18_VNOM (+3 more)</a:t>
            </a:r>
            <a:br/>
            <a:r>
              <a:t>   Recommendation: Review measurement equipment, operator training, or test methodology.</a:t>
            </a:r>
          </a:p>
          <a:p>
            <a:br/>
            <a:pPr>
              <a:defRPr sz="1000">
                <a:solidFill>
                  <a:srgbClr val="646464"/>
                </a:solidFill>
              </a:defRPr>
            </a:pPr>
            <a:r>
              <a:t>Assessment: 0 Excellent | 4 Acceptable | 6 Unacceptable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Gage R&amp;R Analysis Summary - Dc_Pwr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858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nsolas"/>
              </a:defRPr>
            </a:pPr>
            <a:r>
              <a:t>Study Information:</a:t>
            </a:r>
            <a:br/>
            <a:r>
              <a:t>  • Files (Operators/Trials): 3</a:t>
            </a:r>
            <a:br/>
            <a:r>
              <a:t>  • Dies (Parts): 5</a:t>
            </a:r>
            <a:br/>
            <a:r>
              <a:t>  • Parameters Analyzed: 16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0"/>
            <a:ext cx="1161288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Gage R&amp;R - Variance Components - Dc_Pwr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1161288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434840"/>
            <a:ext cx="116128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Interpretation:</a:t>
            </a:r>
          </a:p>
          <a:p>
            <a:pPr>
              <a:defRPr sz="1000"/>
            </a:pPr>
            <a:r>
              <a:t>• Repeatability (blue): Variation when same operator measures same part multiple times (equipment variation)</a:t>
            </a:r>
          </a:p>
          <a:p>
            <a:pPr>
              <a:defRPr sz="1000"/>
            </a:pPr>
            <a:r>
              <a:t>• Reproducibility (red): Variation between different operators/trials measuring same part (operator variation)</a:t>
            </a:r>
          </a:p>
          <a:p>
            <a:pPr>
              <a:defRPr sz="1000" i="1">
                <a:solidFill>
                  <a:srgbClr val="006496"/>
                </a:solidFill>
              </a:defRPr>
            </a:pPr>
            <a:r>
              <a:t>→ Analysis: Repeatability (42.7%) &gt; Reproducibility (20.4%). Equipment/method variation is dominant. Consider equipment calibration or method refinement.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Gage R&amp;R - %GRR and ndc - Dc_Pwr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11612880" cy="3474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251959"/>
            <a:ext cx="116128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Acceptance Criteria &amp; Interpretation:</a:t>
            </a:r>
          </a:p>
          <a:p>
            <a:pPr>
              <a:defRPr sz="900">
                <a:solidFill>
                  <a:srgbClr val="4CAF50"/>
                </a:solidFill>
              </a:defRPr>
            </a:pPr>
            <a:r>
              <a:t>• %GRR &lt; 10%: EXCELLENT - Measurement system is excellent for this application</a:t>
            </a:r>
          </a:p>
          <a:p>
            <a:pPr>
              <a:defRPr sz="900">
                <a:solidFill>
                  <a:srgbClr val="FF9800"/>
                </a:solidFill>
              </a:defRPr>
            </a:pPr>
            <a:r>
              <a:t>• %GRR 10-30%: ACCEPTABLE - May be acceptable depending on application criticality</a:t>
            </a:r>
          </a:p>
          <a:p>
            <a:pPr>
              <a:defRPr sz="900">
                <a:solidFill>
                  <a:srgbClr val="F44336"/>
                </a:solidFill>
              </a:defRPr>
            </a:pPr>
            <a:r>
              <a:t>• %GRR &gt; 30%: UNACCEPTABLE - Measurement system needs improvement</a:t>
            </a:r>
          </a:p>
          <a:p>
            <a:br/>
            <a:pPr>
              <a:defRPr sz="900"/>
            </a:pPr>
            <a:r>
              <a:t>• ndc (Number of Distinct Categories): Indicates how many distinct categories the measurement can reliably distinguish. ndc ≥ 5 is recommended.</a:t>
            </a:r>
          </a:p>
          <a:p>
            <a:pPr>
              <a:defRPr sz="900">
                <a:solidFill>
                  <a:srgbClr val="FF9800"/>
                </a:solidFill>
              </a:defRPr>
            </a:pPr>
            <a:r>
              <a:t>⚠ Warning: 6 parameter(s) have ndc &lt; 5: DC_PWR_STATIC_VDD18I, DC_PWR_STATIC_AVDD18, DC_PWR_STATIC_AVEE_V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